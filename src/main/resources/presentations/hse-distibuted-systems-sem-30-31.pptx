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2"/>
    <p:sldId id="348" r:id="rId3"/>
    <p:sldId id="257" r:id="rId4"/>
    <p:sldId id="305" r:id="rId5"/>
    <p:sldId id="342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43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45" r:id="rId25"/>
    <p:sldId id="344" r:id="rId26"/>
    <p:sldId id="324" r:id="rId27"/>
    <p:sldId id="346" r:id="rId28"/>
    <p:sldId id="350" r:id="rId29"/>
    <p:sldId id="351" r:id="rId30"/>
    <p:sldId id="352" r:id="rId31"/>
    <p:sldId id="353" r:id="rId32"/>
    <p:sldId id="349" r:id="rId33"/>
    <p:sldId id="355" r:id="rId34"/>
    <p:sldId id="356" r:id="rId35"/>
    <p:sldId id="35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4" r:id="rId46"/>
    <p:sldId id="335" r:id="rId47"/>
    <p:sldId id="336" r:id="rId48"/>
    <p:sldId id="337" r:id="rId49"/>
    <p:sldId id="338" r:id="rId50"/>
    <p:sldId id="339" r:id="rId51"/>
    <p:sldId id="340" r:id="rId52"/>
    <p:sldId id="341" r:id="rId53"/>
    <p:sldId id="347" r:id="rId54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06"/>
    <p:restoredTop sz="94658"/>
  </p:normalViewPr>
  <p:slideViewPr>
    <p:cSldViewPr snapToGrid="0">
      <p:cViewPr varScale="1">
        <p:scale>
          <a:sx n="96" d="100"/>
          <a:sy n="96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98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6F365-A8ED-81AC-0050-6FC65FF4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E5547-6563-4F2F-2E5B-EC3A747C1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37B16-C08A-815B-0A31-394990277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10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966072" y="2400181"/>
            <a:ext cx="7211856" cy="136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dirty="0" err="1"/>
              <a:t>Проектирование</a:t>
            </a:r>
            <a:r>
              <a:rPr dirty="0"/>
              <a:t> </a:t>
            </a:r>
            <a:r>
              <a:rPr dirty="0" err="1"/>
              <a:t>Распределенных</a:t>
            </a:r>
            <a:r>
              <a:rPr dirty="0"/>
              <a:t> </a:t>
            </a:r>
            <a:r>
              <a:rPr dirty="0" err="1"/>
              <a:t>Систем</a:t>
            </a:r>
            <a:endParaRPr dirty="0"/>
          </a:p>
        </p:txBody>
      </p:sp>
      <p:sp>
        <p:nvSpPr>
          <p:cNvPr id="121" name="Text 1"/>
          <p:cNvSpPr txBox="1"/>
          <p:nvPr/>
        </p:nvSpPr>
        <p:spPr>
          <a:xfrm>
            <a:off x="1326307" y="4469387"/>
            <a:ext cx="5495094" cy="1273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3400"/>
              </a:lnSpc>
              <a:defRPr sz="2100" b="1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Тридцатый</a:t>
            </a:r>
            <a:r>
              <a:rPr lang="en-US" dirty="0"/>
              <a:t> </a:t>
            </a:r>
            <a:r>
              <a:rPr lang="ru-RU" dirty="0"/>
              <a:t>и Тридцать первый семинары</a:t>
            </a:r>
            <a:endParaRPr dirty="0"/>
          </a:p>
          <a:p>
            <a:pPr algn="ctr">
              <a:lnSpc>
                <a:spcPts val="3400"/>
              </a:lnSpc>
              <a:defRPr sz="2100" b="1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sz="2100" b="1" dirty="0">
                <a:sym typeface="Patrick Hand"/>
              </a:rPr>
              <a:t>Алгоритмы достижения консенсуса в РС.</a:t>
            </a:r>
            <a:br>
              <a:rPr lang="ru-RU" sz="2100" b="1" dirty="0">
                <a:sym typeface="Patrick Hand"/>
              </a:rPr>
            </a:br>
            <a:r>
              <a:rPr lang="en-US" sz="2100" b="1" dirty="0">
                <a:sym typeface="Patrick Hand"/>
              </a:rPr>
              <a:t>RAFT</a:t>
            </a:r>
            <a:r>
              <a:rPr lang="ru-RU" sz="2100" b="1" dirty="0">
                <a:sym typeface="Patrick Hand"/>
              </a:rPr>
              <a:t>: роли, </a:t>
            </a:r>
            <a:r>
              <a:rPr lang="en-US" sz="2100" b="1" dirty="0">
                <a:sym typeface="Patrick Hand"/>
              </a:rPr>
              <a:t>terms </a:t>
            </a:r>
            <a:r>
              <a:rPr lang="ru-RU" sz="2100" b="1" dirty="0">
                <a:sym typeface="Patrick Hand"/>
              </a:rPr>
              <a:t>и </a:t>
            </a:r>
            <a:r>
              <a:rPr lang="en-US" sz="2100" b="1" dirty="0">
                <a:sym typeface="Patrick Hand"/>
              </a:rPr>
              <a:t>leader election.</a:t>
            </a:r>
          </a:p>
        </p:txBody>
      </p:sp>
      <p:sp>
        <p:nvSpPr>
          <p:cNvPr id="122" name="Text 2"/>
          <p:cNvSpPr txBox="1"/>
          <p:nvPr/>
        </p:nvSpPr>
        <p:spPr>
          <a:xfrm>
            <a:off x="-1" y="7667907"/>
            <a:ext cx="2392721" cy="40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400"/>
              </a:lnSpc>
              <a:defRPr sz="21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t>Алексей Шкель</a:t>
            </a:r>
          </a:p>
        </p:txBody>
      </p:sp>
      <p:pic>
        <p:nvPicPr>
          <p:cNvPr id="123" name="Рисунок 6" descr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diagram of a leader  AI-generated content may be incorrect.">
            <a:extLst>
              <a:ext uri="{FF2B5EF4-FFF2-40B4-BE49-F238E27FC236}">
                <a16:creationId xmlns:a16="http://schemas.microsoft.com/office/drawing/2014/main" id="{7797EE03-B5C5-537D-7705-D0BF5CB64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931" y="1642547"/>
            <a:ext cx="5773062" cy="561339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F0701-DEA0-7F2F-3C0A-112324C7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Рисунок 6" descr="Рисунок 6">
            <a:extLst>
              <a:ext uri="{FF2B5EF4-FFF2-40B4-BE49-F238E27FC236}">
                <a16:creationId xmlns:a16="http://schemas.microsoft.com/office/drawing/2014/main" id="{413D4C6B-5685-1BA2-37B3-A32BCF82A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Raft - Launch Trailer | PS5 Games - YouTube">
            <a:extLst>
              <a:ext uri="{FF2B5EF4-FFF2-40B4-BE49-F238E27FC236}">
                <a16:creationId xmlns:a16="http://schemas.microsoft.com/office/drawing/2014/main" id="{9ABAE553-7F6F-FF57-EFA0-06D1DAF1F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34006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 txBox="1"/>
          <p:nvPr/>
        </p:nvSpPr>
        <p:spPr>
          <a:xfrm>
            <a:off x="737830" y="751403"/>
            <a:ext cx="3408183" cy="648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семинара</a:t>
            </a:r>
            <a:endParaRPr dirty="0"/>
          </a:p>
        </p:txBody>
      </p:sp>
      <p:pic>
        <p:nvPicPr>
          <p:cNvPr id="12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86" y="1410176"/>
            <a:ext cx="6472001" cy="228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Image 2" descr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86" y="3037521"/>
            <a:ext cx="6472001" cy="22861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ext 2"/>
          <p:cNvSpPr txBox="1"/>
          <p:nvPr/>
        </p:nvSpPr>
        <p:spPr>
          <a:xfrm>
            <a:off x="438418" y="2130177"/>
            <a:ext cx="10040275" cy="3200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Повторение: вспоминаем основы консенсуса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Какие проблемы возникают при реализации </a:t>
            </a:r>
            <a:r>
              <a:rPr lang="en-US" sz="2600" dirty="0"/>
              <a:t>Paxos </a:t>
            </a:r>
            <a:r>
              <a:rPr lang="ru-RU" sz="2600" dirty="0"/>
              <a:t>на практике?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Что взамен предлагает </a:t>
            </a:r>
            <a:r>
              <a:rPr lang="en-US" sz="2600" dirty="0"/>
              <a:t>RAFT?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Историческая справка про </a:t>
            </a:r>
            <a:r>
              <a:rPr lang="en-US" sz="2600" dirty="0"/>
              <a:t>RAFT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Роли в </a:t>
            </a:r>
            <a:r>
              <a:rPr lang="en-US" sz="2600" dirty="0"/>
              <a:t>RAFT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Сроки лидерства (</a:t>
            </a:r>
            <a:r>
              <a:rPr lang="en-US" sz="2600" dirty="0"/>
              <a:t>Terms</a:t>
            </a:r>
            <a:r>
              <a:rPr lang="ru-RU" sz="2600" dirty="0"/>
              <a:t>)</a:t>
            </a:r>
            <a:r>
              <a:rPr lang="en-US" sz="2600" dirty="0"/>
              <a:t> </a:t>
            </a:r>
            <a:r>
              <a:rPr lang="ru-RU" sz="2600" dirty="0"/>
              <a:t>в </a:t>
            </a:r>
            <a:r>
              <a:rPr lang="en-US" sz="2600" dirty="0"/>
              <a:t>RAFT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Необходимые данные на диске нод в </a:t>
            </a:r>
            <a:r>
              <a:rPr lang="en-US" sz="2600" dirty="0"/>
              <a:t>RAFT</a:t>
            </a:r>
            <a:endParaRPr lang="ru-RU" sz="26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Основные процессы и этапы в </a:t>
            </a:r>
            <a:r>
              <a:rPr lang="en-US" sz="2600" dirty="0"/>
              <a:t>RAFT: initialization </a:t>
            </a:r>
            <a:r>
              <a:rPr lang="ru-RU" sz="2600" dirty="0"/>
              <a:t>и </a:t>
            </a:r>
            <a:r>
              <a:rPr lang="en-US" sz="2600" dirty="0"/>
              <a:t>leader election</a:t>
            </a:r>
          </a:p>
        </p:txBody>
      </p:sp>
      <p:pic>
        <p:nvPicPr>
          <p:cNvPr id="130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693" y="718644"/>
            <a:ext cx="4138419" cy="6207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257" y="7432129"/>
            <a:ext cx="4025901" cy="723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1E467A-2002-EDB0-0199-752163EC4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43145CB-C46B-1F08-A363-67016FF3F456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9EEB8DE-0EDE-072C-E88F-5D091081F37B}"/>
              </a:ext>
            </a:extLst>
          </p:cNvPr>
          <p:cNvSpPr txBox="1"/>
          <p:nvPr/>
        </p:nvSpPr>
        <p:spPr>
          <a:xfrm>
            <a:off x="5673166" y="3448912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26BF-98BE-26D4-E4E4-1F97CD250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1F2BD0-88A7-E282-CA87-4B9F333EB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pic>
        <p:nvPicPr>
          <p:cNvPr id="2" name="image4">
            <a:extLst>
              <a:ext uri="{FF2B5EF4-FFF2-40B4-BE49-F238E27FC236}">
                <a16:creationId xmlns:a16="http://schemas.microsoft.com/office/drawing/2014/main" id="{964C3A57-1483-49F8-E29D-B7AA9B520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79" y="1323636"/>
            <a:ext cx="12071221" cy="657211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F75406D-129B-81F6-26E6-817F8256380B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C294A1B-5568-20EA-3053-1CEF1E341E22}"/>
              </a:ext>
            </a:extLst>
          </p:cNvPr>
          <p:cNvSpPr txBox="1"/>
          <p:nvPr/>
        </p:nvSpPr>
        <p:spPr>
          <a:xfrm>
            <a:off x="5571566" y="333854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4305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5"/>
          <p:cNvPicPr>
            <a:picLocks noChangeAspect="1"/>
          </p:cNvPicPr>
          <p:nvPr/>
        </p:nvPicPr>
        <p:blipFill>
          <a:blip r:embed="rId2"/>
          <a:srcRect b="15278"/>
          <a:stretch>
            <a:fillRect/>
          </a:stretch>
        </p:blipFill>
        <p:spPr>
          <a:xfrm>
            <a:off x="1156905" y="1397001"/>
            <a:ext cx="12316589" cy="6197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BC42C6-7F86-C3CC-4F13-45CCB17B5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EBC16B3-551D-BD38-C15A-BE38822F91D4}"/>
              </a:ext>
            </a:extLst>
          </p:cNvPr>
          <p:cNvSpPr txBox="1"/>
          <p:nvPr/>
        </p:nvSpPr>
        <p:spPr>
          <a:xfrm>
            <a:off x="5571566" y="333854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113" y="812800"/>
            <a:ext cx="11889087" cy="6972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232740-1E3B-4D86-7881-485759D2F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851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DF1903A-B23B-82C7-C93D-3DD5A38EB7A8}"/>
              </a:ext>
            </a:extLst>
          </p:cNvPr>
          <p:cNvSpPr txBox="1"/>
          <p:nvPr/>
        </p:nvSpPr>
        <p:spPr>
          <a:xfrm>
            <a:off x="5520766" y="48056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"/>
          <p:cNvPicPr>
            <a:picLocks noChangeAspect="1"/>
          </p:cNvPicPr>
          <p:nvPr/>
        </p:nvPicPr>
        <p:blipFill>
          <a:blip r:embed="rId2"/>
          <a:srcRect b="28125"/>
          <a:stretch>
            <a:fillRect/>
          </a:stretch>
        </p:blipFill>
        <p:spPr>
          <a:xfrm>
            <a:off x="657647" y="2120900"/>
            <a:ext cx="13315105" cy="525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434374-680B-EE78-5ADC-5E9B6FD65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B6BA665-1396-AB89-5752-A4955A1DFE11}"/>
              </a:ext>
            </a:extLst>
          </p:cNvPr>
          <p:cNvSpPr txBox="1"/>
          <p:nvPr/>
        </p:nvSpPr>
        <p:spPr>
          <a:xfrm>
            <a:off x="5571566" y="333854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"/>
          <p:cNvPicPr>
            <a:picLocks noChangeAspect="1"/>
          </p:cNvPicPr>
          <p:nvPr/>
        </p:nvPicPr>
        <p:blipFill>
          <a:blip r:embed="rId2"/>
          <a:srcRect b="18576"/>
          <a:stretch>
            <a:fillRect/>
          </a:stretch>
        </p:blipFill>
        <p:spPr>
          <a:xfrm>
            <a:off x="979554" y="1473200"/>
            <a:ext cx="12671292" cy="5956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A87F54-06ED-AB6B-3D03-523A9406C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851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71A777E-8CB6-AA59-AACA-3549F6F57229}"/>
              </a:ext>
            </a:extLst>
          </p:cNvPr>
          <p:cNvSpPr txBox="1"/>
          <p:nvPr/>
        </p:nvSpPr>
        <p:spPr>
          <a:xfrm>
            <a:off x="5571566" y="333854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9"/>
          <p:cNvPicPr>
            <a:picLocks noChangeAspect="1"/>
          </p:cNvPicPr>
          <p:nvPr/>
        </p:nvPicPr>
        <p:blipFill>
          <a:blip r:embed="rId2"/>
          <a:srcRect b="15452"/>
          <a:stretch>
            <a:fillRect/>
          </a:stretch>
        </p:blipFill>
        <p:spPr>
          <a:xfrm>
            <a:off x="530352" y="1384300"/>
            <a:ext cx="13569696" cy="6184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EEF68D-5EDB-5A1E-D1FD-CC7516D71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1EF1394-9F95-C991-70E9-DE2258DEE87E}"/>
              </a:ext>
            </a:extLst>
          </p:cNvPr>
          <p:cNvSpPr txBox="1"/>
          <p:nvPr/>
        </p:nvSpPr>
        <p:spPr>
          <a:xfrm>
            <a:off x="5571566" y="333854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0"/>
          <p:cNvPicPr>
            <a:picLocks noChangeAspect="1"/>
          </p:cNvPicPr>
          <p:nvPr/>
        </p:nvPicPr>
        <p:blipFill>
          <a:blip r:embed="rId2"/>
          <a:srcRect b="15278"/>
          <a:stretch>
            <a:fillRect/>
          </a:stretch>
        </p:blipFill>
        <p:spPr>
          <a:xfrm>
            <a:off x="1058059" y="1422401"/>
            <a:ext cx="12514282" cy="6197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1AF8C8-A837-D2BF-5DB4-F735B805B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11A8429-EC15-EC1D-111D-4C7C736748A4}"/>
              </a:ext>
            </a:extLst>
          </p:cNvPr>
          <p:cNvSpPr txBox="1"/>
          <p:nvPr/>
        </p:nvSpPr>
        <p:spPr>
          <a:xfrm>
            <a:off x="5571566" y="333854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1"/>
          <p:cNvPicPr>
            <a:picLocks noChangeAspect="1"/>
          </p:cNvPicPr>
          <p:nvPr/>
        </p:nvPicPr>
        <p:blipFill>
          <a:blip r:embed="rId2"/>
          <a:srcRect b="15972"/>
          <a:stretch>
            <a:fillRect/>
          </a:stretch>
        </p:blipFill>
        <p:spPr>
          <a:xfrm>
            <a:off x="860079" y="1409701"/>
            <a:ext cx="12910241" cy="614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F115C7-347A-3F58-C7F1-7D585C287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009507D-14CE-A60C-2B17-6D2677F75B7E}"/>
              </a:ext>
            </a:extLst>
          </p:cNvPr>
          <p:cNvSpPr txBox="1"/>
          <p:nvPr/>
        </p:nvSpPr>
        <p:spPr>
          <a:xfrm>
            <a:off x="5571566" y="333854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2"/>
          <p:cNvPicPr>
            <a:picLocks noChangeAspect="1"/>
          </p:cNvPicPr>
          <p:nvPr/>
        </p:nvPicPr>
        <p:blipFill>
          <a:blip r:embed="rId2"/>
          <a:srcRect b="17014"/>
          <a:stretch>
            <a:fillRect/>
          </a:stretch>
        </p:blipFill>
        <p:spPr>
          <a:xfrm>
            <a:off x="1029547" y="1701800"/>
            <a:ext cx="12571306" cy="6070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32F1BB-F6DF-ADB3-BFCA-4FF015D89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F54C49E-71A6-1E6E-4EAC-61EC1E6555C3}"/>
              </a:ext>
            </a:extLst>
          </p:cNvPr>
          <p:cNvSpPr txBox="1"/>
          <p:nvPr/>
        </p:nvSpPr>
        <p:spPr>
          <a:xfrm>
            <a:off x="5571566" y="333854"/>
            <a:ext cx="296231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Роли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3"/>
          <p:cNvPicPr>
            <a:picLocks noChangeAspect="1"/>
          </p:cNvPicPr>
          <p:nvPr/>
        </p:nvPicPr>
        <p:blipFill>
          <a:blip r:embed="rId2"/>
          <a:srcRect b="14584"/>
          <a:stretch>
            <a:fillRect/>
          </a:stretch>
        </p:blipFill>
        <p:spPr>
          <a:xfrm>
            <a:off x="962526" y="1257301"/>
            <a:ext cx="12705347" cy="6248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4A487-DB86-C981-E612-7232D649B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46F8-B4B9-7FE6-A400-B57DE8DA1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B93B1D-8158-45AE-2A0F-72A1D28E7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2C7012D-E2DE-1069-88EB-55ABDE21D685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61BB25D1-39A4-6B97-6DBC-409C99C9ED7D}"/>
              </a:ext>
            </a:extLst>
          </p:cNvPr>
          <p:cNvSpPr txBox="1"/>
          <p:nvPr/>
        </p:nvSpPr>
        <p:spPr>
          <a:xfrm>
            <a:off x="3590366" y="3588612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4038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DB4771-7E4E-9EDD-052B-E2D569C31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pic>
        <p:nvPicPr>
          <p:cNvPr id="2" name="image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360332"/>
            <a:ext cx="10428120" cy="673863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02C38EA-69BB-38C0-216F-6B9B0CCD2466}"/>
              </a:ext>
            </a:extLst>
          </p:cNvPr>
          <p:cNvSpPr txBox="1"/>
          <p:nvPr/>
        </p:nvSpPr>
        <p:spPr>
          <a:xfrm>
            <a:off x="3382845" y="375149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4AD84-B0C2-7FAB-B343-263D8F59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pic>
        <p:nvPicPr>
          <p:cNvPr id="2" name="image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802" y="1412905"/>
            <a:ext cx="10744794" cy="657539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F75D6B3-C23C-EC27-125A-660936A16515}"/>
              </a:ext>
            </a:extLst>
          </p:cNvPr>
          <p:cNvSpPr txBox="1"/>
          <p:nvPr/>
        </p:nvSpPr>
        <p:spPr>
          <a:xfrm>
            <a:off x="3382845" y="375149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177" y="955965"/>
            <a:ext cx="11247119" cy="68164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A40558-A596-B1A5-7459-BF8788E1F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F3C1725-553C-A673-9423-EA9832507C39}"/>
              </a:ext>
            </a:extLst>
          </p:cNvPr>
          <p:cNvSpPr txBox="1"/>
          <p:nvPr/>
        </p:nvSpPr>
        <p:spPr>
          <a:xfrm>
            <a:off x="3382845" y="12425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368" y="875211"/>
            <a:ext cx="11810037" cy="68971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5725A0-639C-959E-59D6-F42576C7E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7A0BD98-D5B7-38DB-582A-60FFB59E760D}"/>
              </a:ext>
            </a:extLst>
          </p:cNvPr>
          <p:cNvSpPr txBox="1"/>
          <p:nvPr/>
        </p:nvSpPr>
        <p:spPr>
          <a:xfrm>
            <a:off x="3382845" y="12425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145671-2692-A661-F3CB-5A44756B5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016" y="7791488"/>
            <a:ext cx="2573383" cy="412712"/>
          </a:xfrm>
          <a:prstGeom prst="rect">
            <a:avLst/>
          </a:prstGeom>
        </p:spPr>
      </p:pic>
      <p:pic>
        <p:nvPicPr>
          <p:cNvPr id="2" name="image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640" y="790144"/>
            <a:ext cx="10693118" cy="7027817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8EBF3CC-CEE7-F46A-A237-1471BEA0D9A7}"/>
              </a:ext>
            </a:extLst>
          </p:cNvPr>
          <p:cNvSpPr txBox="1"/>
          <p:nvPr/>
        </p:nvSpPr>
        <p:spPr>
          <a:xfrm>
            <a:off x="3382845" y="12425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9"/>
          <p:cNvPicPr>
            <a:picLocks noChangeAspect="1"/>
          </p:cNvPicPr>
          <p:nvPr/>
        </p:nvPicPr>
        <p:blipFill>
          <a:blip r:embed="rId2"/>
          <a:srcRect b="2210"/>
          <a:stretch>
            <a:fillRect/>
          </a:stretch>
        </p:blipFill>
        <p:spPr>
          <a:xfrm>
            <a:off x="1844703" y="992777"/>
            <a:ext cx="10369068" cy="67796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D307D6-9FC8-F799-937C-39F455E6E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7BA220A-1726-78BC-85A7-5FFF565DBC34}"/>
              </a:ext>
            </a:extLst>
          </p:cNvPr>
          <p:cNvSpPr txBox="1"/>
          <p:nvPr/>
        </p:nvSpPr>
        <p:spPr>
          <a:xfrm>
            <a:off x="3382845" y="12425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69" y="875211"/>
            <a:ext cx="11054187" cy="68971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B6310F-71AD-34C1-6020-4AE61A9E3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D7B3637-FC98-65B8-FE18-A091F8A7491D}"/>
              </a:ext>
            </a:extLst>
          </p:cNvPr>
          <p:cNvSpPr txBox="1"/>
          <p:nvPr/>
        </p:nvSpPr>
        <p:spPr>
          <a:xfrm>
            <a:off x="3382845" y="12425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66" y="874411"/>
            <a:ext cx="10400044" cy="68979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2648C5-1BF4-C40D-2AE8-EBEC6FC62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75E7F0C-B237-245F-7396-7603A1CE0C91}"/>
              </a:ext>
            </a:extLst>
          </p:cNvPr>
          <p:cNvSpPr txBox="1"/>
          <p:nvPr/>
        </p:nvSpPr>
        <p:spPr>
          <a:xfrm>
            <a:off x="3382845" y="12425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Сроки лидерства (</a:t>
            </a:r>
            <a:r>
              <a:rPr lang="en-US" dirty="0"/>
              <a:t>Terms</a:t>
            </a:r>
            <a:r>
              <a:rPr lang="ru-RU" dirty="0"/>
              <a:t>)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F3976-FEB9-1157-8FF8-ABA44FEC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B04A2F-B8A8-33BB-4EC7-F25AED542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5739058-09FF-02BC-4D78-07F5E9AA89E9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0D20103-6510-EF13-B7BD-24DDF365AF9D}"/>
              </a:ext>
            </a:extLst>
          </p:cNvPr>
          <p:cNvSpPr txBox="1"/>
          <p:nvPr/>
        </p:nvSpPr>
        <p:spPr>
          <a:xfrm>
            <a:off x="3590366" y="3067912"/>
            <a:ext cx="7864709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Данные на диске в каждой ноде в </a:t>
            </a:r>
            <a:r>
              <a:rPr lang="en-US" dirty="0"/>
              <a:t>RAFT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1576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26B6F-45D1-9CB4-C27D-5A391AB07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2">
            <a:extLst>
              <a:ext uri="{FF2B5EF4-FFF2-40B4-BE49-F238E27FC236}">
                <a16:creationId xmlns:a16="http://schemas.microsoft.com/office/drawing/2014/main" id="{36806604-C10C-3E2D-F365-E67AB382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92" y="1015403"/>
            <a:ext cx="11419815" cy="67569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D4D57A-4096-697B-C332-C68E387D1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C8C7E2D-4B21-BCBA-5BB6-A373F395DEF2}"/>
              </a:ext>
            </a:extLst>
          </p:cNvPr>
          <p:cNvSpPr txBox="1"/>
          <p:nvPr/>
        </p:nvSpPr>
        <p:spPr>
          <a:xfrm>
            <a:off x="3651327" y="12425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Данные на диске в </a:t>
            </a:r>
            <a:r>
              <a:rPr lang="en-US" dirty="0"/>
              <a:t>RAFT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1736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75" y="994550"/>
            <a:ext cx="11208250" cy="677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F48E1C-DB46-15E3-E1B0-C68918AFD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A2F874C-4CAE-C4C4-8ED0-1DA0EC5611E8}"/>
              </a:ext>
            </a:extLst>
          </p:cNvPr>
          <p:cNvSpPr txBox="1"/>
          <p:nvPr/>
        </p:nvSpPr>
        <p:spPr>
          <a:xfrm>
            <a:off x="3716641" y="22980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Данные на диске в </a:t>
            </a:r>
            <a:r>
              <a:rPr lang="en-US" dirty="0"/>
              <a:t>RAFT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6533B-5E52-5701-86E1-1212AFE3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DE26A8-37EE-24D4-54C8-DBCE620D2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7E34EB5-A213-5CAD-D30F-C3C396D2691C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C7C63EC-8014-A328-5A94-B1BEC3D58A0E}"/>
              </a:ext>
            </a:extLst>
          </p:cNvPr>
          <p:cNvSpPr txBox="1"/>
          <p:nvPr/>
        </p:nvSpPr>
        <p:spPr>
          <a:xfrm>
            <a:off x="3590366" y="3067912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 </a:t>
            </a:r>
            <a:r>
              <a:rPr lang="ru-RU" dirty="0"/>
              <a:t>Инициализация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4556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731F-2C96-401D-FE85-B9F574233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FF53F-0F37-5381-2799-2307ED6CE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F8EEA87-F681-BEE3-687E-9D35E5EE1A2F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7603290A-C0A0-BC90-EFDD-60EB1EBD0587}"/>
              </a:ext>
            </a:extLst>
          </p:cNvPr>
          <p:cNvSpPr txBox="1"/>
          <p:nvPr/>
        </p:nvSpPr>
        <p:spPr>
          <a:xfrm>
            <a:off x="3590366" y="3067912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 1) </a:t>
            </a:r>
            <a:r>
              <a:rPr lang="ru-RU" dirty="0"/>
              <a:t>Инициализация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9036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127B-D83A-7FF7-70C0-07E88069F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968F88-233A-EEBA-70C7-FAE69129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3B16936-4252-4C07-31EA-FC5E6175FD3E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6B0C21F-C380-D249-E523-1ED73FA42F5D}"/>
              </a:ext>
            </a:extLst>
          </p:cNvPr>
          <p:cNvSpPr txBox="1"/>
          <p:nvPr/>
        </p:nvSpPr>
        <p:spPr>
          <a:xfrm>
            <a:off x="3603429" y="20714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 1) </a:t>
            </a:r>
            <a:r>
              <a:rPr lang="ru-RU" dirty="0"/>
              <a:t>Инициализация</a:t>
            </a:r>
          </a:p>
        </p:txBody>
      </p:sp>
      <p:pic>
        <p:nvPicPr>
          <p:cNvPr id="2" name="image13">
            <a:extLst>
              <a:ext uri="{FF2B5EF4-FFF2-40B4-BE49-F238E27FC236}">
                <a16:creationId xmlns:a16="http://schemas.microsoft.com/office/drawing/2014/main" id="{85F28313-FAFA-C5D3-0A23-0EA4AB1F5B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584"/>
          <a:stretch>
            <a:fillRect/>
          </a:stretch>
        </p:blipFill>
        <p:spPr>
          <a:xfrm>
            <a:off x="962526" y="1257301"/>
            <a:ext cx="12705347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73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0F5D-6B3C-F08F-4CC8-63333DBF6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EADB7A-C903-6FD6-E2BA-A314C8A02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50B8010-ACE1-C8A1-DD96-33069C35CFDF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C2C615A-C26D-D3B3-DAF1-DDE7C57FD843}"/>
              </a:ext>
            </a:extLst>
          </p:cNvPr>
          <p:cNvSpPr txBox="1"/>
          <p:nvPr/>
        </p:nvSpPr>
        <p:spPr>
          <a:xfrm>
            <a:off x="3603429" y="20714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 1) </a:t>
            </a:r>
            <a:r>
              <a:rPr lang="ru-RU" dirty="0"/>
              <a:t>Инициализация</a:t>
            </a:r>
          </a:p>
        </p:txBody>
      </p:sp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8F23BC2-3338-61B4-35E0-5DE84BD43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844" y="1477460"/>
            <a:ext cx="8761877" cy="629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59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D8FB9-BFB6-D65E-DE96-997376B4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617705-9EA9-7282-8F7B-BBF08D09E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D9E1302-2FF1-40A5-4B17-5744D379C417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73F747A-568D-5931-DE28-8A585AC9646D}"/>
              </a:ext>
            </a:extLst>
          </p:cNvPr>
          <p:cNvSpPr txBox="1"/>
          <p:nvPr/>
        </p:nvSpPr>
        <p:spPr>
          <a:xfrm>
            <a:off x="3603429" y="207146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 1) </a:t>
            </a:r>
            <a:r>
              <a:rPr lang="ru-RU" dirty="0"/>
              <a:t>Инициализация</a:t>
            </a:r>
          </a:p>
        </p:txBody>
      </p:sp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30FE228-4626-2B86-D4D7-CB7F49245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479" y="1564257"/>
            <a:ext cx="8761877" cy="6294940"/>
          </a:xfrm>
          <a:prstGeom prst="rect">
            <a:avLst/>
          </a:prstGeom>
        </p:spPr>
      </p:pic>
      <p:pic>
        <p:nvPicPr>
          <p:cNvPr id="6" name="Picture 5" descr="A diagram of a number of squares&#10;&#10;AI-generated content may be incorrect.">
            <a:extLst>
              <a:ext uri="{FF2B5EF4-FFF2-40B4-BE49-F238E27FC236}">
                <a16:creationId xmlns:a16="http://schemas.microsoft.com/office/drawing/2014/main" id="{7EBC5721-AF37-5D2A-5EA6-30FA04AB9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360" y="1564257"/>
            <a:ext cx="3318510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62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C5F93-44F3-0446-D972-5ECEE06E9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4FBC25-3A66-EAEA-922F-A2B12653D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E36B79B-BC70-009C-7EE3-BECEDB029C1C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B547100-653B-C199-E807-7972F8E4EBFA}"/>
              </a:ext>
            </a:extLst>
          </p:cNvPr>
          <p:cNvSpPr txBox="1"/>
          <p:nvPr/>
        </p:nvSpPr>
        <p:spPr>
          <a:xfrm>
            <a:off x="3590366" y="3067912"/>
            <a:ext cx="7864709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3522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C57ED-EA1A-AE99-9979-E6D713D9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4B5884-292C-FF05-0964-F00661AED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F639B37-7780-8A92-4AFB-6980D8BE9EB5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5AA490E-6198-28EE-055B-85AB0CFB59B8}"/>
              </a:ext>
            </a:extLst>
          </p:cNvPr>
          <p:cNvSpPr txBox="1"/>
          <p:nvPr/>
        </p:nvSpPr>
        <p:spPr>
          <a:xfrm>
            <a:off x="2789825" y="39189"/>
            <a:ext cx="9407177" cy="1358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2) </a:t>
            </a:r>
            <a:r>
              <a:rPr lang="en-US" dirty="0"/>
              <a:t>Leader Election,</a:t>
            </a:r>
            <a:br>
              <a:rPr lang="ru-RU" dirty="0"/>
            </a:br>
            <a:r>
              <a:rPr lang="ru-RU" dirty="0"/>
              <a:t>голосование за нового лидера</a:t>
            </a:r>
            <a:endParaRPr dirty="0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3E34CDB-F5AE-2999-1DE4-1353B2117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25" y="1547270"/>
            <a:ext cx="9659075" cy="665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36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986F6-59EE-2887-74D9-D6219D09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39D4D-2E76-364A-4B1A-E2A28A4AD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185D6CA-867B-74AC-55EB-D36B5A8EC269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626D6C9-3A63-AED1-1567-FC30DC687174}"/>
              </a:ext>
            </a:extLst>
          </p:cNvPr>
          <p:cNvSpPr txBox="1"/>
          <p:nvPr/>
        </p:nvSpPr>
        <p:spPr>
          <a:xfrm>
            <a:off x="3289920" y="0"/>
            <a:ext cx="7864709" cy="1358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2) </a:t>
            </a:r>
            <a:r>
              <a:rPr lang="en-US" dirty="0"/>
              <a:t>Leader Election,</a:t>
            </a:r>
            <a:br>
              <a:rPr lang="ru-RU" dirty="0"/>
            </a:br>
            <a:r>
              <a:rPr lang="ru-RU" dirty="0"/>
              <a:t>сбор голосов</a:t>
            </a:r>
            <a:endParaRPr dirty="0"/>
          </a:p>
        </p:txBody>
      </p:sp>
      <p:pic>
        <p:nvPicPr>
          <p:cNvPr id="10" name="Picture 9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388CA672-D403-6C6C-D355-090970E81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310" y="1370145"/>
            <a:ext cx="9016689" cy="678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13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AD13-80E5-B432-1BA1-55EE01DD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114F2D-A1E3-FA0D-9833-AF0B8F3E0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DC7A17F-F743-E5EC-E566-BF05318AF048}"/>
              </a:ext>
            </a:extLst>
          </p:cNvPr>
          <p:cNvSpPr txBox="1"/>
          <p:nvPr/>
        </p:nvSpPr>
        <p:spPr>
          <a:xfrm>
            <a:off x="5017730" y="370403"/>
            <a:ext cx="65" cy="62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endParaRPr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8B1658B-EDE3-E147-DAD3-7B998F6465B9}"/>
              </a:ext>
            </a:extLst>
          </p:cNvPr>
          <p:cNvSpPr txBox="1"/>
          <p:nvPr/>
        </p:nvSpPr>
        <p:spPr>
          <a:xfrm>
            <a:off x="2348799" y="3448912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ru-RU" dirty="0"/>
              <a:t>визуализация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981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412" y="921294"/>
            <a:ext cx="9886588" cy="69556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A008FE-AAD8-A502-D4F1-2828213A2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68A7582-04C7-36AD-7B8C-8BFC3C198B9E}"/>
              </a:ext>
            </a:extLst>
          </p:cNvPr>
          <p:cNvSpPr txBox="1"/>
          <p:nvPr/>
        </p:nvSpPr>
        <p:spPr>
          <a:xfrm>
            <a:off x="985571" y="31679"/>
            <a:ext cx="12659258" cy="642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sz="3600" dirty="0"/>
              <a:t>Этапы в </a:t>
            </a:r>
            <a:r>
              <a:rPr lang="en-US" sz="3600" dirty="0"/>
              <a:t>RAFT:</a:t>
            </a:r>
            <a:r>
              <a:rPr lang="ru-RU" sz="3600" dirty="0"/>
              <a:t> </a:t>
            </a:r>
            <a:r>
              <a:rPr lang="en-US" sz="3600" dirty="0"/>
              <a:t>2) Leader Election, </a:t>
            </a:r>
            <a:r>
              <a:rPr lang="ru-RU" sz="3600" dirty="0"/>
              <a:t>триггер начала выбора лидера</a:t>
            </a:r>
            <a:endParaRPr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58" y="822960"/>
            <a:ext cx="10949683" cy="69494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B4114B-13CF-9188-64CD-9F75E4EFB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39F61DA-B1B5-F234-D462-A16211DD58A6}"/>
              </a:ext>
            </a:extLst>
          </p:cNvPr>
          <p:cNvSpPr txBox="1"/>
          <p:nvPr/>
        </p:nvSpPr>
        <p:spPr>
          <a:xfrm>
            <a:off x="985571" y="31679"/>
            <a:ext cx="12659258" cy="642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sz="3600" dirty="0"/>
              <a:t>Этапы в </a:t>
            </a:r>
            <a:r>
              <a:rPr lang="en-US" sz="3600" dirty="0"/>
              <a:t>RAFT:</a:t>
            </a:r>
            <a:r>
              <a:rPr lang="ru-RU" sz="3600" dirty="0"/>
              <a:t> </a:t>
            </a:r>
            <a:r>
              <a:rPr lang="en-US" sz="3600" dirty="0"/>
              <a:t>2) Leader Election, </a:t>
            </a:r>
            <a:r>
              <a:rPr lang="ru-RU" sz="3600" dirty="0"/>
              <a:t>триггер начала выбора лидера</a:t>
            </a:r>
            <a:endParaRPr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269" y="842917"/>
            <a:ext cx="9977861" cy="69294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1EFE67-1477-3410-51F9-D7255BCDD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B12AEA8-04A1-342F-C627-D743E685E007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ru-RU" dirty="0"/>
              <a:t>визуализация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596" y="941516"/>
            <a:ext cx="9719207" cy="68308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381791-386F-40DC-0A2E-2940A1796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7A6459D-3B64-7038-F799-7E67F943C0BA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ru-RU" dirty="0"/>
              <a:t>визуализация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300" y="849811"/>
            <a:ext cx="10250404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8B14BF-D3CC-CB82-069A-34C293AFA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704" y="7707086"/>
            <a:ext cx="2203696" cy="45792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7DCD04E-08C8-FB42-558D-E1C4AD616E32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ru-RU" dirty="0"/>
              <a:t>визуализация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092" y="836023"/>
            <a:ext cx="10306215" cy="7040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158F63-B9DC-2283-242A-428212338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2594" y="7797800"/>
            <a:ext cx="2037806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BEB6850-6B6E-8047-243A-1931812B2F32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ru-RU" dirty="0"/>
              <a:t>визуализация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700" y="796834"/>
            <a:ext cx="10674999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66D7F5-B603-C732-835F-E174151A4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698" y="7772400"/>
            <a:ext cx="1977701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9CC1440-AF34-E0B3-1D69-44CF419E5749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ru-RU" dirty="0"/>
              <a:t>визуализация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362" y="731520"/>
            <a:ext cx="10213675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7DFDF8-76B6-CE05-FE93-22113F72E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342" y="7772400"/>
            <a:ext cx="2090057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0E6FDEB-F055-2A52-EB28-BAB485EB9CF0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ru-RU" dirty="0"/>
              <a:t>визуализация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82" y="770709"/>
            <a:ext cx="10384835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3E67DB-553F-3F76-13B1-B2DB84742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656" y="7772400"/>
            <a:ext cx="2024743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2DB9C56-31FE-C792-FDAD-B40F83B7C745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ru-RU" dirty="0"/>
              <a:t>визуализация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3"/>
          <p:cNvPicPr>
            <a:picLocks noChangeAspect="1"/>
          </p:cNvPicPr>
          <p:nvPr/>
        </p:nvPicPr>
        <p:blipFill>
          <a:blip r:embed="rId2"/>
          <a:srcRect b="1965"/>
          <a:stretch>
            <a:fillRect/>
          </a:stretch>
        </p:blipFill>
        <p:spPr>
          <a:xfrm>
            <a:off x="1812965" y="816791"/>
            <a:ext cx="11004467" cy="71715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D1DD3B-4E00-EA71-EF6A-2AB66435F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432" y="7772400"/>
            <a:ext cx="1812967" cy="431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1CDB5EB-3514-681A-FC6B-CCF661ED5205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up-to-date check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57" y="783454"/>
            <a:ext cx="10948683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E84DE2-970F-B31E-140C-C879DE1B4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9540" y="7772400"/>
            <a:ext cx="1840859" cy="4318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6514301-A9F1-CC93-09D5-4784718275B4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en-US"/>
              <a:t>up-to-date check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89" y="783454"/>
            <a:ext cx="10997022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69B16A-86F2-A6DA-0E93-A94E1FA96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711" y="7772400"/>
            <a:ext cx="1816689" cy="4318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036AD1A2-E70D-6946-93B2-57669DD06E15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</a:t>
            </a:r>
            <a:r>
              <a:rPr lang="en-US"/>
              <a:t>up-to-date check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337" y="796834"/>
            <a:ext cx="10425723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6E1697-40AC-F44E-74A3-1478CD4F2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8060" y="7772400"/>
            <a:ext cx="2102339" cy="4318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7927324-CB59-7A37-1B65-4112C26E40DA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up-to-date check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7"/>
          <p:cNvPicPr>
            <a:picLocks noChangeAspect="1"/>
          </p:cNvPicPr>
          <p:nvPr/>
        </p:nvPicPr>
        <p:blipFill>
          <a:blip r:embed="rId2"/>
          <a:srcRect l="2420" r="5116"/>
          <a:stretch>
            <a:fillRect/>
          </a:stretch>
        </p:blipFill>
        <p:spPr>
          <a:xfrm>
            <a:off x="1397271" y="783455"/>
            <a:ext cx="11194870" cy="73151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4CAB4B-5B91-3F89-CE92-E04A080F2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5474" y="7772400"/>
            <a:ext cx="1854926" cy="4318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ACEC4859-A6D2-59EE-F8F0-329E6E2F8EFA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split vote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8"/>
          <p:cNvPicPr>
            <a:picLocks noChangeAspect="1"/>
          </p:cNvPicPr>
          <p:nvPr/>
        </p:nvPicPr>
        <p:blipFill>
          <a:blip r:embed="rId2"/>
          <a:srcRect l="3331" r="3668"/>
          <a:stretch>
            <a:fillRect/>
          </a:stretch>
        </p:blipFill>
        <p:spPr>
          <a:xfrm>
            <a:off x="1580151" y="889000"/>
            <a:ext cx="10829110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6D661C-5677-28FE-C25C-53EB3243D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4218" y="7772400"/>
            <a:ext cx="2116182" cy="4318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8CBDF104-6AA3-D86E-AB95-4EA380A526AF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split vote</a:t>
            </a:r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9"/>
          <p:cNvPicPr>
            <a:picLocks noChangeAspect="1"/>
          </p:cNvPicPr>
          <p:nvPr/>
        </p:nvPicPr>
        <p:blipFill>
          <a:blip r:embed="rId2"/>
          <a:srcRect l="3756" r="2312"/>
          <a:stretch>
            <a:fillRect/>
          </a:stretch>
        </p:blipFill>
        <p:spPr>
          <a:xfrm>
            <a:off x="1645919" y="777603"/>
            <a:ext cx="11038115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740FEB-405A-ED66-4C95-A1D712DF0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4034" y="7772400"/>
            <a:ext cx="1946365" cy="4318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88256ADE-F321-4A80-0B69-414BBEAB1CA3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split vote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40"/>
          <p:cNvPicPr>
            <a:picLocks noChangeAspect="1"/>
          </p:cNvPicPr>
          <p:nvPr/>
        </p:nvPicPr>
        <p:blipFill>
          <a:blip r:embed="rId2"/>
          <a:srcRect l="4526" r="4086"/>
          <a:stretch>
            <a:fillRect/>
          </a:stretch>
        </p:blipFill>
        <p:spPr>
          <a:xfrm>
            <a:off x="1711233" y="790666"/>
            <a:ext cx="10842171" cy="73151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1F480F-987F-A731-4EB3-BBB30B11A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404" y="7772400"/>
            <a:ext cx="2076995" cy="4318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93190D67-4D71-11C8-13C5-0EBF7C9D55EE}"/>
              </a:ext>
            </a:extLst>
          </p:cNvPr>
          <p:cNvSpPr txBox="1"/>
          <p:nvPr/>
        </p:nvSpPr>
        <p:spPr>
          <a:xfrm>
            <a:off x="1644571" y="130946"/>
            <a:ext cx="10700270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Этапы в </a:t>
            </a:r>
            <a:r>
              <a:rPr lang="en-US" dirty="0"/>
              <a:t>RAFT:</a:t>
            </a:r>
            <a:r>
              <a:rPr lang="ru-RU" dirty="0"/>
              <a:t> </a:t>
            </a:r>
            <a:r>
              <a:rPr lang="en-US" dirty="0"/>
              <a:t>2) Leader Election, split vote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B4D8-E3A6-6E10-71A2-BF1E940F5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C5540B-AFD5-89F8-F359-549E27669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0" y="7772400"/>
            <a:ext cx="2692400" cy="431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973A6E-10AF-1F4D-712A-616F5CD8E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32" y="1828800"/>
            <a:ext cx="13734536" cy="59436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A4F2DEB-6AE9-8794-CB99-7B2E67B6C513}"/>
              </a:ext>
            </a:extLst>
          </p:cNvPr>
          <p:cNvSpPr txBox="1"/>
          <p:nvPr/>
        </p:nvSpPr>
        <p:spPr>
          <a:xfrm>
            <a:off x="4671733" y="566012"/>
            <a:ext cx="5794934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ru-RU" dirty="0"/>
              <a:t>Маппинг </a:t>
            </a:r>
            <a:r>
              <a:rPr lang="en-US" dirty="0" err="1"/>
              <a:t>paxos</a:t>
            </a:r>
            <a:r>
              <a:rPr lang="en-US" dirty="0"/>
              <a:t> -&gt; RAFT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3646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30654</TotalTime>
  <Words>447</Words>
  <Application>Microsoft Macintosh PowerPoint</Application>
  <PresentationFormat>Custom</PresentationFormat>
  <Paragraphs>62</Paragraphs>
  <Slides>53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Calibri</vt:lpstr>
      <vt:lpstr>Calibri Light</vt:lpstr>
      <vt:lpstr>Patrick Hand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Alexey Shkel</cp:lastModifiedBy>
  <cp:revision>123</cp:revision>
  <dcterms:modified xsi:type="dcterms:W3CDTF">2026-05-29T06:02:41Z</dcterms:modified>
</cp:coreProperties>
</file>