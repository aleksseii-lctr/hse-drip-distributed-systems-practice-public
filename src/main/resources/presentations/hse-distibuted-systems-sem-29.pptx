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8"/>
  </p:notesMasterIdLst>
  <p:sldIdLst>
    <p:sldId id="256" r:id="rId2"/>
    <p:sldId id="257" r:id="rId3"/>
    <p:sldId id="304" r:id="rId4"/>
    <p:sldId id="308" r:id="rId5"/>
    <p:sldId id="310" r:id="rId6"/>
    <p:sldId id="311" r:id="rId7"/>
    <p:sldId id="323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5" r:id="rId17"/>
    <p:sldId id="336" r:id="rId18"/>
    <p:sldId id="342" r:id="rId19"/>
    <p:sldId id="344" r:id="rId20"/>
    <p:sldId id="357" r:id="rId21"/>
    <p:sldId id="358" r:id="rId22"/>
    <p:sldId id="372" r:id="rId23"/>
    <p:sldId id="374" r:id="rId24"/>
    <p:sldId id="397" r:id="rId25"/>
    <p:sldId id="375" r:id="rId26"/>
    <p:sldId id="387" r:id="rId27"/>
    <p:sldId id="398" r:id="rId28"/>
    <p:sldId id="399" r:id="rId29"/>
    <p:sldId id="400" r:id="rId30"/>
    <p:sldId id="401" r:id="rId31"/>
    <p:sldId id="402" r:id="rId32"/>
    <p:sldId id="403" r:id="rId33"/>
    <p:sldId id="404" r:id="rId34"/>
    <p:sldId id="405" r:id="rId35"/>
    <p:sldId id="406" r:id="rId36"/>
    <p:sldId id="407" r:id="rId37"/>
    <p:sldId id="408" r:id="rId38"/>
    <p:sldId id="409" r:id="rId39"/>
    <p:sldId id="410" r:id="rId40"/>
    <p:sldId id="414" r:id="rId41"/>
    <p:sldId id="416" r:id="rId42"/>
    <p:sldId id="417" r:id="rId43"/>
    <p:sldId id="418" r:id="rId44"/>
    <p:sldId id="419" r:id="rId45"/>
    <p:sldId id="415" r:id="rId46"/>
    <p:sldId id="420" r:id="rId47"/>
    <p:sldId id="421" r:id="rId48"/>
    <p:sldId id="422" r:id="rId49"/>
    <p:sldId id="423" r:id="rId50"/>
    <p:sldId id="424" r:id="rId51"/>
    <p:sldId id="426" r:id="rId52"/>
    <p:sldId id="412" r:id="rId53"/>
    <p:sldId id="425" r:id="rId54"/>
    <p:sldId id="427" r:id="rId55"/>
    <p:sldId id="428" r:id="rId56"/>
    <p:sldId id="429" r:id="rId57"/>
    <p:sldId id="430" r:id="rId58"/>
    <p:sldId id="431" r:id="rId59"/>
    <p:sldId id="432" r:id="rId60"/>
    <p:sldId id="433" r:id="rId61"/>
    <p:sldId id="434" r:id="rId62"/>
    <p:sldId id="435" r:id="rId63"/>
    <p:sldId id="436" r:id="rId64"/>
    <p:sldId id="437" r:id="rId65"/>
    <p:sldId id="438" r:id="rId66"/>
    <p:sldId id="439" r:id="rId67"/>
    <p:sldId id="413" r:id="rId68"/>
    <p:sldId id="440" r:id="rId69"/>
    <p:sldId id="441" r:id="rId70"/>
    <p:sldId id="442" r:id="rId71"/>
    <p:sldId id="443" r:id="rId72"/>
    <p:sldId id="444" r:id="rId73"/>
    <p:sldId id="445" r:id="rId74"/>
    <p:sldId id="446" r:id="rId75"/>
    <p:sldId id="447" r:id="rId76"/>
    <p:sldId id="448" r:id="rId77"/>
    <p:sldId id="449" r:id="rId78"/>
    <p:sldId id="450" r:id="rId79"/>
    <p:sldId id="451" r:id="rId80"/>
    <p:sldId id="452" r:id="rId81"/>
    <p:sldId id="453" r:id="rId82"/>
    <p:sldId id="454" r:id="rId83"/>
    <p:sldId id="455" r:id="rId84"/>
    <p:sldId id="456" r:id="rId85"/>
    <p:sldId id="457" r:id="rId86"/>
    <p:sldId id="458" r:id="rId87"/>
    <p:sldId id="459" r:id="rId88"/>
    <p:sldId id="460" r:id="rId89"/>
    <p:sldId id="461" r:id="rId90"/>
    <p:sldId id="462" r:id="rId91"/>
    <p:sldId id="463" r:id="rId92"/>
    <p:sldId id="464" r:id="rId93"/>
    <p:sldId id="465" r:id="rId94"/>
    <p:sldId id="467" r:id="rId95"/>
    <p:sldId id="468" r:id="rId96"/>
    <p:sldId id="471" r:id="rId97"/>
    <p:sldId id="472" r:id="rId98"/>
    <p:sldId id="473" r:id="rId99"/>
    <p:sldId id="474" r:id="rId100"/>
    <p:sldId id="475" r:id="rId101"/>
    <p:sldId id="476" r:id="rId102"/>
    <p:sldId id="477" r:id="rId103"/>
    <p:sldId id="478" r:id="rId104"/>
    <p:sldId id="479" r:id="rId105"/>
    <p:sldId id="480" r:id="rId106"/>
    <p:sldId id="481" r:id="rId107"/>
    <p:sldId id="482" r:id="rId108"/>
    <p:sldId id="483" r:id="rId109"/>
    <p:sldId id="484" r:id="rId110"/>
    <p:sldId id="485" r:id="rId111"/>
    <p:sldId id="490" r:id="rId112"/>
    <p:sldId id="491" r:id="rId113"/>
    <p:sldId id="492" r:id="rId114"/>
    <p:sldId id="493" r:id="rId115"/>
    <p:sldId id="494" r:id="rId116"/>
    <p:sldId id="489" r:id="rId117"/>
    <p:sldId id="496" r:id="rId118"/>
    <p:sldId id="497" r:id="rId119"/>
    <p:sldId id="498" r:id="rId120"/>
    <p:sldId id="495" r:id="rId121"/>
    <p:sldId id="499" r:id="rId122"/>
    <p:sldId id="500" r:id="rId123"/>
    <p:sldId id="501" r:id="rId124"/>
    <p:sldId id="502" r:id="rId125"/>
    <p:sldId id="486" r:id="rId126"/>
    <p:sldId id="487" r:id="rId127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2"/>
    <p:restoredTop sz="94658"/>
  </p:normalViewPr>
  <p:slideViewPr>
    <p:cSldViewPr snapToGrid="0">
      <p:cViewPr>
        <p:scale>
          <a:sx n="100" d="100"/>
          <a:sy n="100" d="100"/>
        </p:scale>
        <p:origin x="2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8" name="Shape 1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498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E8ACB-86B9-1557-2E01-38A7D8C32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B136C-3B90-29F6-FFF0-25139541F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7A60F-AF6F-B868-6628-12BE3BDF5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56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380B7-B23B-4120-0D0F-8B3ACEB6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4144E-7B0B-4696-E4EA-BAF3B3266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5F051-807E-2141-7701-8C29CACBF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99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82E53-0F09-980A-DC45-B6431B16C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191F01-99B1-7440-808D-382B04492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0EF97-978A-04DD-91FA-6FFB35F24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41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5FE3E-D0AD-8E91-F240-0E0D88318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2DC4CB-BC1C-3CA0-5BCE-E9CA28DDB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79B5B-A3E3-AFC6-15AF-B823C3939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466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89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629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BAD3E-FE3B-26C5-54B1-468CE980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91DE5-349A-DE69-AF32-7289B4CC2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C350F-4DA9-AFE1-0F52-3A54832B3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148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D0452-4042-AE4D-CC94-46A21FD5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02E4D-24FD-92FE-4A6F-1538216F8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035C1-D513-B198-BBB2-5317B4638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732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8D75A-F523-87BA-0F8E-60BBE17B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F555D-EB82-1B28-0FED-249F26691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541D6-5DAD-3FF8-7218-132B958DA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614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27006-E5A0-1478-5E42-72977A3AF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4B88E-E02E-C506-DC40-80B898757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2E084-219B-C3D4-E1F1-18AC05AF9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881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D8BA-18F5-A87C-2B13-2543B676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273A8-4E1F-0E6B-20E9-F7145F176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51F51-958B-7E6F-4BD9-9095DC2EE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975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7772A-DDAF-E5D0-7670-264A7CC0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C9F07E-56DC-C615-D174-C5A574079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5D5AB-E8E6-B1FB-9B90-58E71CE31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470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D6E1F-B3B9-C3C7-5249-FFEB1BF8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A9B6BD-B062-2E64-81BA-C79FC8B64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72A92-CE4D-997F-8203-E188E887F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663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5E6F6-A534-4EAA-1689-59F7A0FCD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56C9F-CF39-C65A-BF23-A74C3EC15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38851-2EB8-21DC-EDDB-AA6803882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3947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62B60-ED0D-B412-D71F-67FAF580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1428E-C768-8A3E-E6FD-0EBC99F1A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0FDFA-B203-4364-241A-51716CAC6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123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CCA0E-2520-6F8B-9A1A-B2539249A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44768-7E32-8FDC-51F9-6FAD33BFD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C3FF0-1676-9622-EFDA-89C00ACED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5220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BBBCE-1F4A-8AF2-AD78-2BE5E7C41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5A307-9F7D-235F-88BE-AF81298B5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B68F3-EDCC-EE76-2217-41ACFA8C0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90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01818-6942-8972-6874-23C72295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5C3A3-96FD-BCC1-64B6-AE52AFC7B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A6F56-F9C5-8335-3B5E-2F79415C7E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505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749ED-C325-732A-0987-99E1011E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CF1E2-D109-8584-7CDE-A569FC156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449C3-3D85-309E-96A7-F04FB9CBD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9063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8E1C1-F181-9E65-94B7-DF50FB15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BEDAFF-5D19-843F-1309-4A154E7C50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601F6-104A-5F96-3047-CDE322AB2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5867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CCC74-4D11-CDCD-79DD-417FC5F2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5BE6F-DCD0-A386-BB9E-AA03FD411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97191-948E-7C61-16A3-FF1B872A0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6290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11E9E-6336-ACAC-AD33-9169EBD9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C9FC1-9E4E-2EE5-4EF2-A8FB43581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8198A-8327-B717-E9EC-F6E3A2EC68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6880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1B705-E065-901D-79BD-C9FF0B4CD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35962-C938-D250-DB2A-1F43C684E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06A2E-BB83-0AAC-FA37-577D1C22A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6169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043DB-2CA0-1807-5A7E-09D685E2D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CA8B9F-2CB3-C697-1892-BD024DB95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BB6F9-BF54-FAAD-9FFF-76FC6964E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1014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347AD-4934-1D94-C863-B9EB62C6B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9ED35-A281-2B7C-FBA9-4938C7617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BECE3B-4DC7-61DC-5445-4627612CD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1524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6328F-130D-EDE1-D61F-417580DE9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6A018-13DD-A459-B1B6-F2BA1A2F3B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3BC3D-237A-09C7-0BA9-6E4CB372B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8690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51F83-6EE2-2FAC-9E2F-7505F3878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DAB2C-91BB-E881-A86F-65A7F0545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F223C-1ED8-2944-F8EE-00F75B2B3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765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0E7C2-410F-212B-6E1A-0A3FF619F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79EB8-1AD0-F685-9352-7CB60D630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85536-506C-D18B-CDA4-4C55EBFAE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3952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1B424-F9CA-B411-BB5C-F4F569715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FDD9E-D959-CF5A-BEDF-2C409456A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0A89A-B302-6913-CA13-246FDF7A6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6148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A8BB3-66F4-5FD6-1C0A-8E6CC37B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2D586-D652-F3BA-3570-7AAA76B8C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198627-397B-ECA0-2864-F2BF68335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6571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C3212-7D2E-8B27-E42D-DA7AE62CD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2A96F-02EB-3DA8-BEF8-33D45673F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E4CDB-7861-2C3C-CFF8-069DDB159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5202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5E566-BEBF-2E69-29C1-78CBF4D0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9D00F-3654-7F6B-9840-CA12C0B2F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A54AF6-B1EA-3116-1E32-129148F64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29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60CF8-BA8F-BDDA-CDC4-D793C3F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FECE1-EE95-6370-D46E-93E0B9C96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FA0B5-0D6B-AAD9-BC27-4970891DC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5207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9026-CCF7-5E57-0FEE-E5DFC2DFF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83E18-F489-2DC1-4F46-EC477533D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6D675-E78E-C1AA-403F-D113AFEAEC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81965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ED6AB-C7A2-D075-EE09-7CC832AA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283099-E0E0-714F-1EE4-321696E93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66BBE-3AFE-9AC9-7D01-703EDDFB5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2244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8A68-B504-D623-C726-25EDA2603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35EE0C-B439-863C-3BF9-D48050F8A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DEAC3-CB24-DCE9-6214-4CD58F1B7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827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AD4AC-86EC-D96D-4DC7-A381163A0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968B3-1DEC-DBF1-9977-3FC680A4B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BCD62-C30F-BC5B-C061-E8AFF5122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9234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4D475-0C58-B599-12D1-7F288214D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AD7D9-32BB-AFB4-58C5-073524053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22D426-A4AC-0597-37CF-8F9D2A793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0399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A0AC-05CB-4002-C0B1-7F470E2BD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1B96F-E85F-61F9-1723-D25718003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BBF65-7DE2-6614-C6E2-19F7E63EE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924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7736-3CB6-0F17-67E4-B83071D3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F6147-3298-E995-0145-42C3984C50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F79D2-50A6-A5C8-C59B-F5676A33A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3691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27654-863C-1174-D306-9EF2AA3A5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37E5A-14A7-9FA2-9A12-72798F8E6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1D1DE-6D2A-C85B-EF80-9900AFC5A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7518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0192A-C835-E842-F765-219B6C43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805D1-FC07-8198-9A03-D0FD0CE50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12470-E43E-FB1E-77C6-8845BB3CA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4577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23DFD-8D88-D6C3-945D-C50146FE3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6A3EA-A608-4392-0141-23F1DB852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21AC4-2A83-9628-FF7C-E538023DEF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2998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E4F52-B36C-6FC8-55B0-10A6BD89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EB4EA-8C01-6CE7-13B1-3CCAE36D8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A01758-A9DE-3066-256B-9947AA1C9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57275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9F08-D8DA-399E-694E-93CD0F92C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CE5C3-0C04-9D1F-CD2D-54494C619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1FF77-F392-55B5-1441-A33465DD5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2391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607C6-D080-5FAD-BEA3-504D60A63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2477AF-A185-5B24-8F46-005347400A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FE1F8A-4DF7-D3FD-6F2E-50B809D20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9653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43297-FE7B-F109-89AF-0E5E8C61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A5F0FE-06BE-60F1-7343-CF9A83D2F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B330E-1E53-9936-C7AC-E501CA259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3446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ABFD-73D2-F486-48F2-99EC4C210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B8025-4CBF-F8BB-96AB-256BDAC98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07593-FEB8-9842-4368-F5419D494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80753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19A1-188B-A58E-5648-9E59841DD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58699-6B0B-A0CF-D1DC-01E213B8A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788CA-9E82-D0CE-9385-0B05B5AC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2243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F8931-194E-2AE5-B68B-AB483ADA3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7EC75-D3D7-566B-3B3E-C8ECABC75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9C122-C3D1-E843-7586-3D425A976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24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67AB-CA19-9CEE-FAAE-F9C275EA7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ABD91-16E5-6FEC-EADD-CDD5CB9E3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9DE3D1-4271-96C3-A6C0-D703741C4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00538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5506C-39D3-3B72-102B-8BE55E0B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BC0630-3FB1-7F74-3DC9-70B3027D8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6235A-7ED8-4D2F-E6D7-635C29268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98298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CAAF8-F4BD-43D0-B3F8-F046D9D1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63F5A-4B29-6129-BBD8-A9D4DB66B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8A366-E3D8-8197-35BD-6C11695D4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40857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568FF-1CF2-802D-0EEA-F13FB947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A6E57-3CC3-A983-9962-812E97BED4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03A0A-F78E-7730-6370-CB7EABC64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99273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BD735-57E9-D845-0235-D6FFD58CC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796CF-8095-F161-273D-1C372B6ED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A13B9-EEAA-E5E0-8E4F-E6888758B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6100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03F85-45EB-A3FC-9158-D587F8C9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CECB6-CC5D-8919-E60F-CEBEE5AF6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2CC56-4DB0-D68F-E2AD-5A0A48FB6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64250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989B-D92D-DC6F-29A2-41CF635FF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FBD1D-6342-8855-130C-422C0B838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4F69E-A27E-751E-F2DA-62B60FCAA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55676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6F39-AC7E-CC70-E88B-AAB9E0CBC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DC0B5C-C47C-77C5-C03E-3A1359DA67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81422-BD4B-2227-68BF-B6BBB6436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90701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39F1-26AD-D9C4-3265-CD614DF5C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AE6FE-9809-2D38-79EB-9B64D7EBE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D9C4F7-DFB5-3340-3444-22559163B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18252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C91F-1D41-35E5-37EE-F822A786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3DCC2-E0FE-2CA2-3658-7381F0667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42E31-2E2C-BFC5-8BA9-3E904265C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09986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61C68-33AF-D13A-40F4-97263BBC5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2B8F1-6AA9-9708-35BA-B7CE4D494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B89A9-9095-FEE4-7B66-029F67023D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21321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4483-AC4A-A771-6168-CB19D117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E18FF-ACCC-64CA-A141-B08EC7162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41740-BD66-09A0-815E-01D7EF8F2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31168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18FA-CE29-E98E-3BC5-5E00162AC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3C969-39FE-D9C4-269D-9A989FD3A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B2751-9B2D-9CA0-4ACD-5869CBB55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786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A1B0-362E-170B-F60B-EB45C01C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1B988F-3931-2286-C076-BECA47B75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86A7A-2DDD-0E34-B0CF-7FBA31952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9066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B54B2-3AAD-6AFF-38ED-6B1DAB82F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174348-79DA-BB43-3C35-E7E54CFEF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5358B-8205-465F-E0F5-B008FBE0C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5318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9FB8A-5E40-C82B-A94B-1269FB88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7459BF-B9B5-D0A4-A4F8-D99C7FE45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2D13C-5199-A0BC-772D-D9CAEA446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16110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689E1-A5B3-A7B1-B7FD-BCD4354B8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56891-A5CE-CCD8-2286-7520B6992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62C27-3036-D1B2-60DA-46AB459FE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84150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6AE3-8580-D8A8-40E5-14D68634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91AB0-A6B2-98FA-39F3-E3C45E10E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C5F7F3-E5B2-051C-D548-23D481387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35220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7EA55-2EA3-E58A-2867-B2106624D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01563-D28A-350A-BCE6-A86BA47C42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A1D40-B011-B3AD-9A51-694396F7E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97583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7E0F8-9596-E711-7669-EA2199C61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2C805-A9D3-1743-829B-E8B307304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5CBCFE-9AC1-2B57-811A-7A917E481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54318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0FA80-8091-DF34-7CD5-877027AF2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75BCF-5E26-6217-92B0-572EB3A25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5E530-F032-4769-71EA-24A6098AB2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09254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D1DEB-3BEB-D330-B15E-3ADBDA44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D47D4-2EFD-A9C2-77F3-A1864A9AE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4CE776-1E74-F3EB-C36B-F6835D66A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26404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C814A-2E92-DE97-5B1D-8D7B61027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9530C-B8B4-8C8E-36CC-3F9283DAB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5CF4-0810-B8D6-2966-3E7CFAC51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653739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C65E-431B-5DEF-3EE9-D9F575B9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2EE95-E339-1352-4424-96C805CF4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17D53-4428-8C68-53D5-A048163DF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4444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BB3AF-2C49-788B-FF05-5DDF0F24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D0F4D-C40E-61D2-2E33-4247AEA56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BDC55-A9DD-BD8A-DC4A-FB2B732FA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0554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299AD-4176-3EAD-2852-D72416B11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9FF7A-931D-D9E7-6FFA-A4CCDB92F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90F39-B063-CFC7-F80D-1AC089FEB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99620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C671C-F93F-77CD-77E0-9FB15EA41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169DC-6885-022C-7043-3F260238A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2B828-0115-D095-8ADE-CE8F9B315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825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274FE-3B91-EB16-2946-679F1AA2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D2248-D47D-4461-90E2-2EE96D35C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D5B5C-B105-7EC7-291B-5FF62A42D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1357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8AC09-9FC3-C6E9-A11D-B8A911E2A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074EA9-3EFB-998E-212A-4F2514BAA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90C48-14CD-4B06-D8DE-C30F0E314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529754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1A4B5-75B7-F183-1550-A748C032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3C4C0-FD90-8F27-1A1D-BD4E9E6AE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8C9ED-7DFC-73BD-5546-7E3935AB5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28205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8BFF-85B2-F30C-B1DE-B8C2EAD1F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A8188-1841-5F26-B52F-1B3C39EE59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32BA3D-1CB6-50BB-B714-CD57A3808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49659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61CC-1ECD-AA97-EE63-8D4AE182A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DA4DA-64BF-EA9E-2C70-BF765FE9A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EBD157-533C-1FF0-0D37-522CE7F42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23492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96A51-C855-8305-953B-189BAA2B4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B17E1A-F2C2-8AAA-0B2A-5AEBB5F6D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FFFED-B740-F887-4C1C-82501C88A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9219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D57A0-554D-BC47-6CB4-1D3792975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5A053-FDC0-F3CA-CD30-1E03E2233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B8F0B4-B670-6E3A-929A-6C0BC0622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88366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1C876-F455-47BD-964B-6091B9366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CC441-2347-3DE1-0AE1-CBE343C71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90783-9EA9-8162-81C5-BEF72E164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29125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D9D5-8950-3F51-0E48-C49265BE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138C5-8D40-79D7-1497-1496FE058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52B2A2-4D81-FFF3-E8BA-EE03E4B93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9056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A6506-B933-AE28-C854-198C8518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BC9DD-867C-26F5-1E5A-072FA26EE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ECA12-C643-F263-25F8-12ECEB3E1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19804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60CCF-7D4D-5253-8858-577DBB7E2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6BB82-412C-249F-44AE-2A0A784D74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0B5AF-72EE-C494-02E2-3D4229C46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98066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97DA1-98AF-15E9-2EF8-6B7A9037A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9F481-A281-7DB9-4E95-EE9AF4D2D2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C25E0-FC7E-893C-F6AF-8D0F1FA67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12453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8071B-E8A4-B5F3-27C1-2F2EDC99D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E9193-2405-012B-CAAB-9875E6687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7688F-C52B-90FC-90D1-716CDD2CB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2149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831D8-BA97-1188-16D4-DD407A7E4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4DB07-F38D-F3EE-06D3-010B87B7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BA7DD-C58C-4892-720D-532B682BB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85451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0C292-7E10-AF2D-D3E8-5B295A099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E2622-77CD-2F18-ADFB-BA2A052C5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8720D-E818-3C4E-EFA8-C0B82FA6B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45730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D0250-7109-BA96-227D-E7785CF0F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F6777-E6EB-7BA2-3A45-7D5D587C8D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DF141-75F6-7E80-5C26-0FE71EBDF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31891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D8755-A5DA-102A-818B-AE6E348D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68D0A-3401-C465-CF05-157C742AE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69C05-911B-01DE-F3B5-DC44D3B61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10875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8E8E-5C01-BF28-6ABF-963E3B63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1B9D4-6C0F-48FA-B18D-CD7CCAEEA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B14473-5EC8-E269-BDE7-8233DA414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4565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54E6C-38F8-7760-7836-A79D155C2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B7BE92-7A1C-4592-DA44-ABDCC3C9E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6884F-EC09-E34C-057F-F2CDFB780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83031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D601-DEBE-8D66-D4EB-50AEBB79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FDFE3-F421-DAD2-7A2C-CACA66D06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3629B-DC53-BA03-1663-52576D74D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22769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9F07F-3C42-9A39-7528-D210FE0DB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F64AD-87FA-924A-A03A-0C741C0FE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22D07-1234-B44B-752A-05CC69423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978413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DFA0-8994-D55B-C123-4974838D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E55978-2713-421B-D8B6-540382A81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09BB0-C6BE-BD54-B86D-126DC7813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76253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2B27-52EE-C66A-E7FA-C23AA146E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146B8B-63B2-A20D-5844-736AE985F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FFD76-90CE-5DFA-13BE-8CE3642C8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88641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7D7C-ED34-A45F-26A0-B03FCAC76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08A67-9254-D60D-F283-EFE777E98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E9CD4-01EB-F3B4-1207-8FC12E8FC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229433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342E-1A7F-DFD5-5C66-F1827620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EF14E-E634-2B9D-3678-ECE7B8D35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1E1262-AE85-72D6-A94D-23E22A1E8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25091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E9C49-45BE-4FCA-BF73-F780D936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A6688-FDD4-7A82-1D53-296BFBFEE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2B4B7-5750-97FB-7DFF-5E34DEEB8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7878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C888-B1B3-E234-7723-76EB17001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D2C40-7105-694D-F1CD-BB9655645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426F56-4AD3-7640-CFDC-E5565232C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003827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66163-41C9-C914-7CF1-A5533E9A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EDA1F-E162-A11B-F51A-C4BFEEC1A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BB3FA1-35B3-7493-B6C5-67E454F11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62349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8082-FEBE-D72D-EDA4-E66FFC2F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086F2-852A-F13F-E4A0-03BE99052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68D5B-32AF-9CF1-1188-2E9A0477A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125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CCCCC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0" name="Image 0" descr="Image 0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731519" y="110489"/>
            <a:ext cx="13167362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731519" y="1920239"/>
            <a:ext cx="13167362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071359" y="7408544"/>
            <a:ext cx="3413761" cy="43815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9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966072" y="2400181"/>
            <a:ext cx="7211856" cy="136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t>Проектирование Распределенных Систем</a:t>
            </a:r>
          </a:p>
        </p:txBody>
      </p:sp>
      <p:sp>
        <p:nvSpPr>
          <p:cNvPr id="121" name="Text 1"/>
          <p:cNvSpPr txBox="1"/>
          <p:nvPr/>
        </p:nvSpPr>
        <p:spPr>
          <a:xfrm>
            <a:off x="815285" y="4449247"/>
            <a:ext cx="6203622" cy="834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ts val="3400"/>
              </a:lnSpc>
              <a:defRPr sz="2100" b="1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dirty="0" err="1"/>
              <a:t>Двадцать</a:t>
            </a:r>
            <a:r>
              <a:rPr dirty="0"/>
              <a:t> </a:t>
            </a:r>
            <a:r>
              <a:rPr lang="en-US" dirty="0" err="1"/>
              <a:t>д</a:t>
            </a:r>
            <a:r>
              <a:rPr lang="ru-RU" dirty="0" err="1"/>
              <a:t>евятый</a:t>
            </a:r>
            <a:r>
              <a:rPr lang="ru-RU" dirty="0"/>
              <a:t> </a:t>
            </a:r>
            <a:r>
              <a:rPr dirty="0" err="1"/>
              <a:t>семинар</a:t>
            </a:r>
            <a:r>
              <a:rPr dirty="0"/>
              <a:t>:</a:t>
            </a:r>
          </a:p>
          <a:p>
            <a:pPr algn="ctr">
              <a:lnSpc>
                <a:spcPts val="3400"/>
              </a:lnSpc>
              <a:defRPr sz="2100" b="1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pPr>
            <a:r>
              <a:rPr lang="en-US" dirty="0"/>
              <a:t>Paxos. </a:t>
            </a:r>
            <a:r>
              <a:rPr lang="ru-RU" dirty="0"/>
              <a:t>Разновидности и оптимизации алгоритма</a:t>
            </a:r>
            <a:endParaRPr dirty="0"/>
          </a:p>
        </p:txBody>
      </p:sp>
      <p:sp>
        <p:nvSpPr>
          <p:cNvPr id="122" name="Text 2"/>
          <p:cNvSpPr txBox="1"/>
          <p:nvPr/>
        </p:nvSpPr>
        <p:spPr>
          <a:xfrm>
            <a:off x="-1" y="7667907"/>
            <a:ext cx="2392721" cy="40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400"/>
              </a:lnSpc>
              <a:defRPr sz="21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t>Алексей Шкель</a:t>
            </a:r>
          </a:p>
        </p:txBody>
      </p:sp>
      <p:pic>
        <p:nvPicPr>
          <p:cNvPr id="123" name="Рисунок 6" descr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PAXOS Consensus Algorithm - GeeksforGeeks">
            <a:extLst>
              <a:ext uri="{FF2B5EF4-FFF2-40B4-BE49-F238E27FC236}">
                <a16:creationId xmlns:a16="http://schemas.microsoft.com/office/drawing/2014/main" id="{1B428EE5-3B0A-A140-D646-3BDEA99C4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0" y="2247900"/>
            <a:ext cx="7416114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 txBox="1"/>
          <p:nvPr/>
        </p:nvSpPr>
        <p:spPr>
          <a:xfrm>
            <a:off x="737830" y="751403"/>
            <a:ext cx="3408183" cy="648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5100"/>
              </a:lnSpc>
              <a:defRPr sz="4100"/>
            </a:pPr>
            <a:r>
              <a:t>План семинара</a:t>
            </a:r>
          </a:p>
        </p:txBody>
      </p:sp>
      <p:pic>
        <p:nvPicPr>
          <p:cNvPr id="12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86" y="1410176"/>
            <a:ext cx="6472001" cy="228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Image 2" descr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886" y="3037521"/>
            <a:ext cx="6472001" cy="22861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ext 2"/>
          <p:cNvSpPr txBox="1"/>
          <p:nvPr/>
        </p:nvSpPr>
        <p:spPr>
          <a:xfrm>
            <a:off x="259425" y="1742804"/>
            <a:ext cx="10040275" cy="4955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Повторение: разогрев и вводная про </a:t>
            </a:r>
            <a:r>
              <a:rPr lang="en-US" sz="2600" dirty="0"/>
              <a:t>Paxos</a:t>
            </a:r>
            <a:endParaRPr lang="ru-RU" sz="26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Повторение </a:t>
            </a:r>
            <a:r>
              <a:rPr lang="en-US" sz="2600" dirty="0"/>
              <a:t>Paxos: </a:t>
            </a:r>
            <a:r>
              <a:rPr lang="ru-RU" sz="2600" dirty="0"/>
              <a:t>роли, действие каждой из ролей,</a:t>
            </a:r>
            <a:br>
              <a:rPr lang="ru-RU" sz="2600" dirty="0"/>
            </a:br>
            <a:r>
              <a:rPr lang="ru-RU" sz="2600" dirty="0"/>
              <a:t>этапы в алгоритме, кворумы в </a:t>
            </a:r>
            <a:r>
              <a:rPr lang="en-US" sz="2600" dirty="0" err="1"/>
              <a:t>paxos</a:t>
            </a:r>
            <a:endParaRPr lang="ru-RU" sz="26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Повторение: сценарии отказов в </a:t>
            </a:r>
            <a:r>
              <a:rPr lang="en-US" sz="2600" dirty="0"/>
              <a:t>Paxos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Выявление и разбор проблем классического </a:t>
            </a:r>
            <a:r>
              <a:rPr lang="en-US" sz="2600" dirty="0"/>
              <a:t>Paxos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Введение разновидностей алгоритма </a:t>
            </a:r>
            <a:r>
              <a:rPr lang="en-US" sz="2600" dirty="0"/>
              <a:t>Paxos</a:t>
            </a:r>
            <a:endParaRPr lang="ru-RU" sz="26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Multi-Paxos: </a:t>
            </a:r>
            <a:r>
              <a:rPr lang="ru-RU" sz="2800" dirty="0">
                <a:sym typeface="fkGroteskNeue"/>
              </a:rPr>
              <a:t>лидер + амортизация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Fast Paxos: </a:t>
            </a:r>
            <a:r>
              <a:rPr lang="ru-RU" sz="2800" dirty="0">
                <a:sym typeface="fkGroteskNeue"/>
              </a:rPr>
              <a:t>сэкономить </a:t>
            </a:r>
            <a:r>
              <a:rPr lang="en-US" sz="2800" dirty="0">
                <a:sym typeface="fkGroteskNeue"/>
              </a:rPr>
              <a:t>round-trip</a:t>
            </a:r>
            <a:endParaRPr lang="ru-RU" sz="2800" dirty="0">
              <a:sym typeface="fkGroteskNeue"/>
            </a:endParaRP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Flexible Paxos: </a:t>
            </a:r>
            <a:r>
              <a:rPr lang="ru-RU" sz="2800" dirty="0">
                <a:sym typeface="fkGroteskNeue"/>
              </a:rPr>
              <a:t>кворум ≠ большинство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 err="1">
                <a:sym typeface="fkGroteskNeue"/>
              </a:rPr>
              <a:t>EPaxos</a:t>
            </a:r>
            <a:r>
              <a:rPr lang="en-US" sz="2800" dirty="0">
                <a:sym typeface="fkGroteskNeue"/>
              </a:rPr>
              <a:t>: </a:t>
            </a:r>
            <a:r>
              <a:rPr lang="ru-RU" sz="2800" dirty="0">
                <a:sym typeface="fkGroteskNeue"/>
              </a:rPr>
              <a:t>убираем </a:t>
            </a:r>
            <a:r>
              <a:rPr lang="en-US" sz="2800" dirty="0">
                <a:sym typeface="fkGroteskNeue"/>
              </a:rPr>
              <a:t>bottleneck </a:t>
            </a:r>
            <a:r>
              <a:rPr lang="ru-RU" sz="2800" dirty="0">
                <a:sym typeface="fkGroteskNeue"/>
              </a:rPr>
              <a:t>лидера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Обобщённый </a:t>
            </a:r>
            <a:r>
              <a:rPr lang="en-US" sz="2800" dirty="0">
                <a:sym typeface="fkGroteskNeue"/>
              </a:rPr>
              <a:t>Paxos: </a:t>
            </a:r>
            <a:r>
              <a:rPr lang="ru-RU" sz="2800" dirty="0">
                <a:sym typeface="fkGroteskNeue"/>
              </a:rPr>
              <a:t>регистры вместо ролей</a:t>
            </a:r>
            <a:endParaRPr lang="ru-RU" sz="2600" dirty="0"/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600" dirty="0"/>
              <a:t>Переход от </a:t>
            </a:r>
            <a:r>
              <a:rPr lang="en-US" sz="2600" dirty="0"/>
              <a:t>Paxos </a:t>
            </a:r>
            <a:r>
              <a:rPr lang="ru-RU" sz="2600" dirty="0"/>
              <a:t>к </a:t>
            </a:r>
            <a:r>
              <a:rPr lang="en-US" sz="2600" dirty="0"/>
              <a:t>RAFT</a:t>
            </a:r>
          </a:p>
        </p:txBody>
      </p:sp>
      <p:pic>
        <p:nvPicPr>
          <p:cNvPr id="130" name="Image 0" descr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8693" y="718644"/>
            <a:ext cx="4138419" cy="6207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257" y="7432129"/>
            <a:ext cx="4025901" cy="723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8EF7C-CBC9-44CA-FE81-30D80A745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1E73519-2CD6-57AC-497A-7CD972837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F8BB6CE-4014-B5EB-1EBD-A087E7CBF6B5}"/>
              </a:ext>
            </a:extLst>
          </p:cNvPr>
          <p:cNvSpPr txBox="1"/>
          <p:nvPr/>
        </p:nvSpPr>
        <p:spPr>
          <a:xfrm>
            <a:off x="736764" y="543405"/>
            <a:ext cx="13449136" cy="66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rPr lang="ru-RU" dirty="0"/>
              <a:t>Повторение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80B519-7EC5-87CF-0744-7935F8526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150" y="1511299"/>
            <a:ext cx="6559550" cy="646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2998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94623-919E-EE6F-644C-B6FE4D7B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67D7F42-2503-7165-90BE-ECC178661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DDC8A8C0-103E-F00C-6877-E841C13E9468}"/>
              </a:ext>
            </a:extLst>
          </p:cNvPr>
          <p:cNvSpPr txBox="1"/>
          <p:nvPr/>
        </p:nvSpPr>
        <p:spPr>
          <a:xfrm>
            <a:off x="736764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rPr lang="ru-RU" dirty="0"/>
              <a:t>Ситуация</a:t>
            </a:r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8C5E8-6E76-ECBE-FF7E-84039944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1219199"/>
            <a:ext cx="6997700" cy="688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4149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110E-FF70-3AFA-F53D-B460890A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EAC879B-67E3-7FD2-EBC0-D75C12796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914C6AE-0DAB-B44E-EF29-ED8D20649926}"/>
              </a:ext>
            </a:extLst>
          </p:cNvPr>
          <p:cNvSpPr txBox="1"/>
          <p:nvPr/>
        </p:nvSpPr>
        <p:spPr>
          <a:xfrm>
            <a:off x="736764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rPr lang="ru-RU" dirty="0"/>
              <a:t>Ситуация</a:t>
            </a:r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28DC8F-D159-74BB-38FF-0FBD46FC2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225579"/>
            <a:ext cx="6997700" cy="6885437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D8640E9E-8E56-794A-67A5-5E5CC9FA5574}"/>
              </a:ext>
            </a:extLst>
          </p:cNvPr>
          <p:cNvSpPr txBox="1"/>
          <p:nvPr/>
        </p:nvSpPr>
        <p:spPr>
          <a:xfrm>
            <a:off x="500725" y="2069227"/>
            <a:ext cx="6611275" cy="3323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Необходимо придумать способ такой, чтобы: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все, кто дожил до вечера,</a:t>
            </a:r>
            <a:br>
              <a:rPr lang="ru-RU" sz="2400" dirty="0">
                <a:sym typeface="fkGroteskNeue"/>
              </a:rPr>
            </a:br>
            <a:r>
              <a:rPr lang="ru-RU" sz="2400" dirty="0">
                <a:sym typeface="fkGroteskNeue"/>
              </a:rPr>
              <a:t>узнали ОДНО и то же место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это место было реально кем-то предложено</a:t>
            </a:r>
            <a:br>
              <a:rPr lang="ru-RU" sz="2400" dirty="0">
                <a:sym typeface="fkGroteskNeue"/>
              </a:rPr>
            </a:br>
            <a:r>
              <a:rPr lang="ru-RU" sz="2400" dirty="0">
                <a:sym typeface="fkGroteskNeue"/>
              </a:rPr>
              <a:t>(а не "встретимся на луне")</a:t>
            </a: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рано или поздно решение все-таки было принялось</a:t>
            </a:r>
            <a:br>
              <a:rPr lang="ru-RU" sz="2400" dirty="0">
                <a:sym typeface="fkGroteskNeue"/>
              </a:rPr>
            </a:br>
            <a:endParaRPr lang="ru-RU" sz="2400" dirty="0">
              <a:sym typeface="fkGroteskNeue"/>
            </a:endParaRPr>
          </a:p>
          <a:p>
            <a:pPr marL="342900" indent="-342900">
              <a:buSzPct val="100000"/>
              <a:buFont typeface="Arial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ru-RU" sz="2400" dirty="0">
              <a:sym typeface="fkGroteskNeue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0CA3F7-2709-4EDD-04B9-CC844039C1B8}"/>
              </a:ext>
            </a:extLst>
          </p:cNvPr>
          <p:cNvSpPr txBox="1"/>
          <p:nvPr/>
        </p:nvSpPr>
        <p:spPr>
          <a:xfrm>
            <a:off x="500724" y="5718413"/>
            <a:ext cx="661127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b="1" u="sng" dirty="0">
                <a:sym typeface="fkGroteskNeue"/>
              </a:rPr>
              <a:t>Это и будет означать достижение консенсуса</a:t>
            </a:r>
          </a:p>
        </p:txBody>
      </p:sp>
    </p:spTree>
    <p:extLst>
      <p:ext uri="{BB962C8B-B14F-4D97-AF65-F5344CB8AC3E}">
        <p14:creationId xmlns:p14="http://schemas.microsoft.com/office/powerpoint/2010/main" val="85603252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8C73F-0A89-6A15-AA77-8E55EA101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ABA981C-CE8F-8C07-61FB-6F87557E5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74EFA2AC-5FE5-8F2F-C766-A33C172B2992}"/>
              </a:ext>
            </a:extLst>
          </p:cNvPr>
          <p:cNvSpPr txBox="1"/>
          <p:nvPr/>
        </p:nvSpPr>
        <p:spPr>
          <a:xfrm>
            <a:off x="736764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rPr lang="ru-RU" dirty="0"/>
              <a:t>Свойства алгоритмов достижения консенсуса</a:t>
            </a:r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B9BA32-6510-E2CD-FE78-42A04C4824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025" y="1574800"/>
            <a:ext cx="6541526" cy="6436581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4FE7258D-711B-DF6B-B03B-2BC1B943B8FC}"/>
              </a:ext>
            </a:extLst>
          </p:cNvPr>
          <p:cNvSpPr txBox="1"/>
          <p:nvPr/>
        </p:nvSpPr>
        <p:spPr>
          <a:xfrm>
            <a:off x="488025" y="2452806"/>
            <a:ext cx="6611275" cy="3754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Свойства:</a:t>
            </a:r>
          </a:p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1. </a:t>
            </a:r>
            <a:r>
              <a:rPr lang="ru-RU" sz="2400" u="sng" dirty="0">
                <a:sym typeface="fkGroteskNeue"/>
              </a:rPr>
              <a:t>Согласованность (</a:t>
            </a:r>
            <a:r>
              <a:rPr lang="en-US" sz="2400" u="sng" dirty="0">
                <a:sym typeface="fkGroteskNeue"/>
              </a:rPr>
              <a:t>Agreement)</a:t>
            </a:r>
            <a:r>
              <a:rPr lang="ru-RU" sz="2400" b="1" dirty="0">
                <a:sym typeface="fkGroteskNeue"/>
              </a:rPr>
              <a:t> </a:t>
            </a:r>
            <a:r>
              <a:rPr lang="en-US" sz="2400" dirty="0">
                <a:sym typeface="fkGroteskNeue"/>
              </a:rPr>
              <a:t>— </a:t>
            </a:r>
            <a:r>
              <a:rPr lang="ru-RU" sz="2400" dirty="0">
                <a:sym typeface="fkGroteskNeue"/>
              </a:rPr>
              <a:t>все корректные процессы решают одно и то же значение.</a:t>
            </a:r>
            <a:br>
              <a:rPr lang="ru-RU" sz="2400" dirty="0">
                <a:sym typeface="fkGroteskNeue"/>
              </a:rPr>
            </a:br>
            <a:endParaRPr lang="ru-RU" sz="2400" dirty="0">
              <a:sym typeface="fkGroteskNeue"/>
            </a:endParaRPr>
          </a:p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2. </a:t>
            </a:r>
            <a:r>
              <a:rPr lang="ru-RU" sz="2400" u="sng" dirty="0">
                <a:sym typeface="fkGroteskNeue"/>
              </a:rPr>
              <a:t>Обоснованность (</a:t>
            </a:r>
            <a:r>
              <a:rPr lang="en-US" sz="2400" u="sng" dirty="0">
                <a:sym typeface="fkGroteskNeue"/>
              </a:rPr>
              <a:t>Validity)</a:t>
            </a:r>
            <a:r>
              <a:rPr lang="en-US" sz="2400" b="1" dirty="0">
                <a:sym typeface="fkGroteskNeue"/>
              </a:rPr>
              <a:t> </a:t>
            </a:r>
            <a:r>
              <a:rPr lang="en-US" sz="2400" dirty="0">
                <a:sym typeface="fkGroteskNeue"/>
              </a:rPr>
              <a:t>— </a:t>
            </a:r>
            <a:r>
              <a:rPr lang="ru-RU" sz="2400" dirty="0">
                <a:sym typeface="fkGroteskNeue"/>
              </a:rPr>
              <a:t>выбранное значение должно быть кем-то реально предложено.</a:t>
            </a:r>
            <a:br>
              <a:rPr lang="ru-RU" sz="2400" dirty="0">
                <a:sym typeface="fkGroteskNeue"/>
              </a:rPr>
            </a:br>
            <a:endParaRPr lang="ru-RU" sz="2400" dirty="0">
              <a:sym typeface="fkGroteskNeue"/>
            </a:endParaRPr>
          </a:p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400" dirty="0">
                <a:sym typeface="fkGroteskNeue"/>
              </a:rPr>
              <a:t>3. </a:t>
            </a:r>
            <a:r>
              <a:rPr lang="ru-RU" sz="2400" u="sng" dirty="0" err="1">
                <a:sym typeface="fkGroteskNeue"/>
              </a:rPr>
              <a:t>Завершаемость</a:t>
            </a:r>
            <a:r>
              <a:rPr lang="ru-RU" sz="2400" u="sng" dirty="0">
                <a:sym typeface="fkGroteskNeue"/>
              </a:rPr>
              <a:t> (</a:t>
            </a:r>
            <a:r>
              <a:rPr lang="en-US" sz="2400" u="sng" dirty="0">
                <a:sym typeface="fkGroteskNeue"/>
              </a:rPr>
              <a:t>Termination)</a:t>
            </a:r>
            <a:r>
              <a:rPr lang="en-US" sz="2400" b="1" dirty="0">
                <a:sym typeface="fkGroteskNeue"/>
              </a:rPr>
              <a:t> </a:t>
            </a:r>
            <a:r>
              <a:rPr lang="en-US" sz="2400" dirty="0">
                <a:sym typeface="fkGroteskNeue"/>
              </a:rPr>
              <a:t>— </a:t>
            </a:r>
            <a:r>
              <a:rPr lang="ru-RU" sz="2400" dirty="0">
                <a:sym typeface="fkGroteskNeue"/>
              </a:rPr>
              <a:t>все корректные процессы рано или поздно принимают решение.</a:t>
            </a:r>
            <a:endParaRPr lang="ru-RU" sz="2800" dirty="0">
              <a:sym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4223432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A7078-C0B6-E047-6FAC-86D482FEE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E1FBDFD-4750-D420-7D3F-9B5AE5435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959D6EA1-957E-8D5C-8405-4A960044AFB2}"/>
              </a:ext>
            </a:extLst>
          </p:cNvPr>
          <p:cNvSpPr txBox="1"/>
          <p:nvPr/>
        </p:nvSpPr>
        <p:spPr>
          <a:xfrm>
            <a:off x="736764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Роли в </a:t>
            </a:r>
            <a:r>
              <a:rPr lang="en-US" dirty="0"/>
              <a:t>Paxos</a:t>
            </a:r>
            <a:endParaRPr lang="ru-RU" dirty="0"/>
          </a:p>
          <a:p>
            <a:endParaRPr dirty="0"/>
          </a:p>
        </p:txBody>
      </p:sp>
      <p:pic>
        <p:nvPicPr>
          <p:cNvPr id="3" name="Picture 2" descr="A close-up of several rectangular signs&#10;&#10;AI-generated content may be incorrect.">
            <a:extLst>
              <a:ext uri="{FF2B5EF4-FFF2-40B4-BE49-F238E27FC236}">
                <a16:creationId xmlns:a16="http://schemas.microsoft.com/office/drawing/2014/main" id="{8A3B6909-B8C0-4BEF-FC8C-C5457958F8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92" y="3099194"/>
            <a:ext cx="12704016" cy="496331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20BFCE3-463B-E98E-61D4-A532F093A835}"/>
              </a:ext>
            </a:extLst>
          </p:cNvPr>
          <p:cNvSpPr txBox="1"/>
          <p:nvPr/>
        </p:nvSpPr>
        <p:spPr>
          <a:xfrm>
            <a:off x="444500" y="1225579"/>
            <a:ext cx="13449136" cy="2003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2800" dirty="0"/>
              <a:t>ВАЖНО:</a:t>
            </a:r>
          </a:p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ru-RU" sz="2800" b="1" u="sng" dirty="0"/>
              <a:t>Каждая нода может принимать одни ИЛИ БОЛЕЕ ролей одновременно</a:t>
            </a:r>
          </a:p>
          <a:p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424468579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D789A-B073-6FCD-0893-4068C6D95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D53131F-EA59-3506-D54C-7A328C43F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7D7A7766-E110-EC04-3892-57CBBD72EFBF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Этапы в </a:t>
            </a:r>
            <a:r>
              <a:rPr lang="en-US" dirty="0"/>
              <a:t>Paxos</a:t>
            </a:r>
            <a:endParaRPr lang="ru-RU" dirty="0"/>
          </a:p>
          <a:p>
            <a:endParaRPr dirty="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F43E40F6-C616-0743-BCBB-287FB5A868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057" y="1721968"/>
            <a:ext cx="10958286" cy="631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04483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123A5-EB6A-9BC6-D30E-B93D38F0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953FDDA-1359-64D9-0A49-94781FB39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1ADEECA4-A513-4834-62FD-99FA18F773B3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</a:t>
            </a:r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D8016F-2DD6-1D59-D3E0-778A1F1EF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05" y="4223160"/>
            <a:ext cx="12944929" cy="3868809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C6A1D79A-4991-DE52-5B63-28F31483AE06}"/>
              </a:ext>
            </a:extLst>
          </p:cNvPr>
          <p:cNvSpPr txBox="1"/>
          <p:nvPr/>
        </p:nvSpPr>
        <p:spPr>
          <a:xfrm>
            <a:off x="2273299" y="1907753"/>
            <a:ext cx="9261204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Prepare(n)            — proposer → acceptors    (</a:t>
            </a:r>
            <a:r>
              <a:rPr lang="ru-RU" sz="2800" dirty="0">
                <a:sym typeface="fkGroteskNeue"/>
              </a:rPr>
              <a:t>фаза 1а)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Promise(n, </a:t>
            </a:r>
            <a:r>
              <a:rPr lang="en-US" sz="2800" dirty="0" err="1">
                <a:sym typeface="fkGroteskNeue"/>
              </a:rPr>
              <a:t>v_a</a:t>
            </a:r>
            <a:r>
              <a:rPr lang="en-US" sz="2800" dirty="0">
                <a:sym typeface="fkGroteskNeue"/>
              </a:rPr>
              <a:t>)  — acceptor → proposer     (</a:t>
            </a:r>
            <a:r>
              <a:rPr lang="ru-RU" sz="2800" dirty="0">
                <a:sym typeface="fkGroteskNeue"/>
              </a:rPr>
              <a:t>фаза 1б)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Accept!(n, v)         — proposer → acceptors    (</a:t>
            </a:r>
            <a:r>
              <a:rPr lang="ru-RU" sz="2800" dirty="0">
                <a:sym typeface="fkGroteskNeue"/>
              </a:rPr>
              <a:t>фаза 2а)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Accepted(n, v)        — acceptor → learners     (</a:t>
            </a:r>
            <a:r>
              <a:rPr lang="ru-RU" sz="2800" dirty="0">
                <a:sym typeface="fkGroteskNeue"/>
              </a:rPr>
              <a:t>фаза 2б)</a:t>
            </a:r>
          </a:p>
        </p:txBody>
      </p:sp>
    </p:spTree>
    <p:extLst>
      <p:ext uri="{BB962C8B-B14F-4D97-AF65-F5344CB8AC3E}">
        <p14:creationId xmlns:p14="http://schemas.microsoft.com/office/powerpoint/2010/main" val="98518974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4F52C-6674-3339-3A30-189FF18B4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5CB7750-6D82-14EB-C90B-F69547113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B5E57DFB-A5D8-8D7A-F78C-CB0C9679DA24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Proposer</a:t>
            </a:r>
            <a:r>
              <a:rPr lang="ru-RU" dirty="0"/>
              <a:t> </a:t>
            </a:r>
            <a:r>
              <a:rPr lang="en-US" dirty="0"/>
              <a:t>stage 1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043C42-FD36-A54C-5804-68CDFA5FE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03" y="3909652"/>
            <a:ext cx="12944929" cy="3868809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F56671D6-43DA-F90C-5620-267BC1D2F935}"/>
              </a:ext>
            </a:extLst>
          </p:cNvPr>
          <p:cNvSpPr txBox="1"/>
          <p:nvPr/>
        </p:nvSpPr>
        <p:spPr>
          <a:xfrm>
            <a:off x="2273299" y="1907753"/>
            <a:ext cx="9261204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Что делает </a:t>
            </a:r>
            <a:r>
              <a:rPr lang="en-US" sz="2800" dirty="0">
                <a:sym typeface="fkGroteskNeue"/>
              </a:rPr>
              <a:t>proposer?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Выбирает свежий номер </a:t>
            </a:r>
            <a:r>
              <a:rPr lang="en-US" sz="2800" dirty="0">
                <a:sym typeface="fkGroteskNeue"/>
              </a:rPr>
              <a:t>n </a:t>
            </a:r>
            <a:r>
              <a:rPr lang="ru-RU" sz="2800" dirty="0">
                <a:sym typeface="fkGroteskNeue"/>
              </a:rPr>
              <a:t>больше всего, что он раньше отправлял, и шлёт </a:t>
            </a:r>
            <a:r>
              <a:rPr lang="ru-RU" sz="2800" b="1" dirty="0">
                <a:sym typeface="fkGroteskNeue"/>
              </a:rPr>
              <a:t>`</a:t>
            </a:r>
            <a:r>
              <a:rPr lang="en-US" sz="2800" dirty="0">
                <a:sym typeface="fkGroteskNeue"/>
              </a:rPr>
              <a:t>Prepare(n)</a:t>
            </a:r>
            <a:r>
              <a:rPr lang="en-US" sz="2800" b="1" dirty="0">
                <a:sym typeface="fkGroteskNeue"/>
              </a:rPr>
              <a:t>` </a:t>
            </a:r>
            <a:r>
              <a:rPr lang="ru-RU" sz="2800" dirty="0">
                <a:sym typeface="fkGroteskNeue"/>
              </a:rPr>
              <a:t>большинству акцепторов.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ru-RU" sz="2800" dirty="0">
              <a:sym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50683819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797F7-E900-0611-1F3F-126CBAF72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F644EDEE-3A7C-FBC1-A576-60AE01995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7F62357C-4449-8866-8275-55DC49635072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Acceptor stage 1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E382E6-00E5-99A1-E20F-42798B3D7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652" y="4706432"/>
            <a:ext cx="10704831" cy="3199318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E73B0803-8E8B-764C-40C8-8E47357600BB}"/>
              </a:ext>
            </a:extLst>
          </p:cNvPr>
          <p:cNvSpPr txBox="1"/>
          <p:nvPr/>
        </p:nvSpPr>
        <p:spPr>
          <a:xfrm>
            <a:off x="117927" y="1638212"/>
            <a:ext cx="9261204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Что делает акцептор, получив `</a:t>
            </a:r>
            <a:r>
              <a:rPr lang="en-US" sz="2800" dirty="0">
                <a:sym typeface="fkGroteskNeue"/>
              </a:rPr>
              <a:t>Prepare(n)`?</a:t>
            </a:r>
          </a:p>
          <a:p>
            <a:pPr marL="457200" indent="-457200">
              <a:buSzPct val="100000"/>
              <a:buFont typeface="Arial" panose="020B0604020202020204" pitchFamily="34" charset="0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Смотрит на свою память — а в памяти у него две вещи:</a:t>
            </a:r>
            <a:endParaRPr lang="en-US" sz="2800" dirty="0">
              <a:sym typeface="fkGroteskNeue"/>
            </a:endParaRPr>
          </a:p>
          <a:p>
            <a:pPr marL="514350" lvl="2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максимальный номер, на который он уже обещал (</a:t>
            </a:r>
            <a:r>
              <a:rPr lang="ru-RU" sz="2800" b="1" dirty="0">
                <a:sym typeface="fkGroteskNeue"/>
              </a:rPr>
              <a:t>`</a:t>
            </a:r>
            <a:r>
              <a:rPr lang="en-US" sz="2800" dirty="0" err="1">
                <a:sym typeface="fkGroteskNeue"/>
              </a:rPr>
              <a:t>n_promised</a:t>
            </a:r>
            <a:r>
              <a:rPr lang="en-US" sz="2800" b="1" dirty="0">
                <a:sym typeface="fkGroteskNeue"/>
              </a:rPr>
              <a:t>`</a:t>
            </a:r>
            <a:r>
              <a:rPr lang="en-US" sz="2800" dirty="0">
                <a:sym typeface="fkGroteskNeue"/>
              </a:rPr>
              <a:t>)</a:t>
            </a:r>
            <a:endParaRPr lang="ru-RU" sz="2800" dirty="0">
              <a:sym typeface="fkGroteskNeue"/>
            </a:endParaRPr>
          </a:p>
          <a:p>
            <a:pPr marL="514350" lvl="2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последнее принятое предложение</a:t>
            </a:r>
            <a:br>
              <a:rPr lang="ru-RU" sz="2800" dirty="0">
                <a:sym typeface="fkGroteskNeue"/>
              </a:rPr>
            </a:br>
            <a:r>
              <a:rPr lang="ru-RU" sz="2800" b="1" dirty="0">
                <a:sym typeface="fkGroteskNeue"/>
              </a:rPr>
              <a:t>`</a:t>
            </a:r>
            <a:r>
              <a:rPr lang="ru-RU" sz="2800" dirty="0">
                <a:sym typeface="fkGroteskNeue"/>
              </a:rPr>
              <a:t>(</a:t>
            </a:r>
            <a:r>
              <a:rPr lang="en-US" sz="2800" dirty="0" err="1">
                <a:sym typeface="fkGroteskNeue"/>
              </a:rPr>
              <a:t>n_accepted</a:t>
            </a:r>
            <a:r>
              <a:rPr lang="en-US" sz="2800" dirty="0">
                <a:sym typeface="fkGroteskNeue"/>
              </a:rPr>
              <a:t>, </a:t>
            </a:r>
            <a:r>
              <a:rPr lang="en-US" sz="2800" dirty="0" err="1">
                <a:sym typeface="fkGroteskNeue"/>
              </a:rPr>
              <a:t>v_accepted</a:t>
            </a:r>
            <a:r>
              <a:rPr lang="en-US" sz="2800" dirty="0">
                <a:sym typeface="fkGroteskNeue"/>
              </a:rPr>
              <a:t>)</a:t>
            </a:r>
            <a:r>
              <a:rPr lang="en-US" sz="2800" b="1" dirty="0">
                <a:sym typeface="fkGroteskNeue"/>
              </a:rPr>
              <a:t>`</a:t>
            </a:r>
            <a:r>
              <a:rPr lang="en-US" sz="2800" dirty="0">
                <a:sym typeface="fkGroteskNeue"/>
              </a:rPr>
              <a:t>.</a:t>
            </a:r>
            <a:endParaRPr lang="ru-RU" sz="2800" dirty="0">
              <a:sym typeface="fkGroteskNeue"/>
            </a:endParaRPr>
          </a:p>
          <a:p>
            <a:pPr lvl="2" indent="0"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ru-RU" sz="2800" dirty="0">
              <a:sym typeface="fkGroteskNeue"/>
            </a:endParaRPr>
          </a:p>
          <a:p>
            <a:pPr marL="514350" lvl="2" indent="-514350">
              <a:buSzPct val="100000"/>
              <a:buFont typeface="Arial" panose="020B0604020202020204" pitchFamily="34" charset="0"/>
              <a:buChar char="•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en-US" sz="2800" dirty="0">
              <a:sym typeface="fkGroteskNeue"/>
            </a:endParaRP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ru-RU" sz="2800" dirty="0">
              <a:sym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0029574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A3C0-115E-7FB2-A20A-47E1979B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4AD4D56-2FA3-107D-0061-C7AE937A2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A2FCEB8E-A96A-6C81-0335-052BD0481BB7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Proposer stage 1 ending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932570-9A33-D45D-8B55-46BFF58A7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72" y="4327867"/>
            <a:ext cx="6367771" cy="1903115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5B47F3E9-D54F-842A-0649-77520E687EC6}"/>
              </a:ext>
            </a:extLst>
          </p:cNvPr>
          <p:cNvSpPr txBox="1"/>
          <p:nvPr/>
        </p:nvSpPr>
        <p:spPr>
          <a:xfrm>
            <a:off x="444500" y="1446477"/>
            <a:ext cx="9339581" cy="1723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Proposer </a:t>
            </a:r>
            <a:r>
              <a:rPr lang="ru-RU" sz="2800" dirty="0">
                <a:sym typeface="fkGroteskNeue"/>
              </a:rPr>
              <a:t>ждёт </a:t>
            </a:r>
            <a:r>
              <a:rPr lang="ru-RU" sz="2800" b="1" dirty="0">
                <a:sym typeface="fkGroteskNeue"/>
              </a:rPr>
              <a:t>`</a:t>
            </a:r>
            <a:r>
              <a:rPr lang="en-US" sz="2800" dirty="0">
                <a:sym typeface="fkGroteskNeue"/>
              </a:rPr>
              <a:t>Promise</a:t>
            </a:r>
            <a:r>
              <a:rPr lang="en-US" sz="2800" b="1" dirty="0">
                <a:sym typeface="fkGroteskNeue"/>
              </a:rPr>
              <a:t>` </a:t>
            </a:r>
            <a:r>
              <a:rPr lang="ru-RU" sz="2800" dirty="0">
                <a:sym typeface="fkGroteskNeue"/>
              </a:rPr>
              <a:t>от </a:t>
            </a:r>
            <a:r>
              <a:rPr lang="ru-RU" sz="2800" b="1" dirty="0">
                <a:sym typeface="fkGroteskNeue"/>
              </a:rPr>
              <a:t>большинства</a:t>
            </a:r>
            <a:r>
              <a:rPr lang="ru-RU" sz="2800" dirty="0">
                <a:sym typeface="fkGroteskNeue"/>
              </a:rPr>
              <a:t>.</a:t>
            </a:r>
            <a:endParaRPr lang="en-US" sz="2800" dirty="0">
              <a:sym typeface="fkGroteskNeue"/>
            </a:endParaRPr>
          </a:p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Как только большинство собрано —</a:t>
            </a:r>
            <a:br>
              <a:rPr lang="en-US" sz="2800" dirty="0">
                <a:sym typeface="fkGroteskNeue"/>
              </a:rPr>
            </a:br>
            <a:r>
              <a:rPr lang="ru-RU" sz="2800" dirty="0">
                <a:sym typeface="fkGroteskNeue"/>
              </a:rPr>
              <a:t>он переходит к фазе 2.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endParaRPr lang="ru-RU" sz="2800" dirty="0">
              <a:sym typeface="fkGroteskNeu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C73C1F-EB71-33AE-F5B2-16B5A1E00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190" y="2258961"/>
            <a:ext cx="7279710" cy="560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8280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052C-AC2D-E017-D351-CE4A35FB0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2F36684-2125-B5F8-95FB-3AEE6552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09DDDC01-52ED-E2A8-09CD-192B204B688B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Proposer stage 2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A52278-4441-DAE6-2804-A51086795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98" y="5678785"/>
            <a:ext cx="6367771" cy="1903115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56A333A3-1A4A-88E7-63A1-BCB86758CDCB}"/>
              </a:ext>
            </a:extLst>
          </p:cNvPr>
          <p:cNvSpPr txBox="1"/>
          <p:nvPr/>
        </p:nvSpPr>
        <p:spPr>
          <a:xfrm>
            <a:off x="444500" y="1446477"/>
            <a:ext cx="9339581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Proposer </a:t>
            </a:r>
            <a:r>
              <a:rPr lang="ru-RU" sz="2800" dirty="0">
                <a:sym typeface="fkGroteskNeue"/>
              </a:rPr>
              <a:t>смотрит значения в ответах у большинства.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Выбирает из всех значений</a:t>
            </a:r>
            <a:r>
              <a:rPr lang="en-US" sz="2800" dirty="0">
                <a:sym typeface="fkGroteskNeue"/>
              </a:rPr>
              <a:t> </a:t>
            </a:r>
            <a:r>
              <a:rPr lang="en-US" sz="2800" dirty="0" err="1">
                <a:sym typeface="fkGroteskNeue"/>
              </a:rPr>
              <a:t>v_a</a:t>
            </a:r>
            <a:r>
              <a:rPr lang="en-US" sz="2800" dirty="0">
                <a:sym typeface="fkGroteskNeue"/>
              </a:rPr>
              <a:t> </a:t>
            </a:r>
            <a:r>
              <a:rPr lang="ru-RU" sz="2800" dirty="0">
                <a:sym typeface="fkGroteskNeue"/>
              </a:rPr>
              <a:t>САМОЕ БОЛЬШОЕ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И далее предлагает уже это </a:t>
            </a:r>
            <a:r>
              <a:rPr lang="en-US" sz="2800" dirty="0" err="1">
                <a:sym typeface="fkGroteskNeue"/>
              </a:rPr>
              <a:t>v_a_max</a:t>
            </a:r>
            <a:br>
              <a:rPr lang="en-US" sz="2800" dirty="0">
                <a:sym typeface="fkGroteskNeue"/>
              </a:rPr>
            </a:br>
            <a:r>
              <a:rPr lang="ru-RU" sz="2800" dirty="0">
                <a:sym typeface="fkGroteskNeue"/>
              </a:rPr>
              <a:t>на следующий этап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И только если все </a:t>
            </a:r>
            <a:r>
              <a:rPr lang="en-US" sz="2800" dirty="0">
                <a:sym typeface="fkGroteskNeue"/>
              </a:rPr>
              <a:t>promise</a:t>
            </a:r>
            <a:r>
              <a:rPr lang="ru-RU" sz="2800" dirty="0">
                <a:sym typeface="fkGroteskNeue"/>
              </a:rPr>
              <a:t>-ы пустые, он</a:t>
            </a:r>
            <a:br>
              <a:rPr lang="ru-RU" sz="2800" dirty="0">
                <a:sym typeface="fkGroteskNeue"/>
              </a:rPr>
            </a:br>
            <a:r>
              <a:rPr lang="ru-RU" sz="2800" dirty="0">
                <a:sym typeface="fkGroteskNeue"/>
              </a:rPr>
              <a:t>может предложить свое значение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6C66C-47D0-29FB-389B-17BC54214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190" y="2258961"/>
            <a:ext cx="7279710" cy="560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7073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D0AA1-A628-C4FE-0BBD-5EE0F1CC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7BBD4E5-E72C-A9C7-4DE4-A995AF15C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D1AB6AE6-A2D9-3707-75EB-15E68249481F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Proposer stage 2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314EEB-7D9D-7F8A-FE12-EE7A4CF11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737" y="4213901"/>
            <a:ext cx="10813942" cy="3231928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64D99E1B-E6B1-F482-ED6C-002FE6DBA8CC}"/>
              </a:ext>
            </a:extLst>
          </p:cNvPr>
          <p:cNvSpPr txBox="1"/>
          <p:nvPr/>
        </p:nvSpPr>
        <p:spPr>
          <a:xfrm>
            <a:off x="444500" y="1446477"/>
            <a:ext cx="9339581" cy="129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Proposer </a:t>
            </a:r>
            <a:r>
              <a:rPr lang="ru-RU" sz="2800" dirty="0">
                <a:sym typeface="fkGroteskNeue"/>
              </a:rPr>
              <a:t>выбирает значение по предыдущей логике</a:t>
            </a:r>
          </a:p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И с выбранным значением отсылает сообщение </a:t>
            </a:r>
            <a:r>
              <a:rPr lang="en-US" sz="2800" dirty="0">
                <a:sym typeface="fkGroteskNeue"/>
              </a:rPr>
              <a:t>Accept!(n, v) </a:t>
            </a:r>
            <a:r>
              <a:rPr lang="ru-RU" sz="2800" dirty="0">
                <a:sym typeface="fkGroteskNeue"/>
              </a:rPr>
              <a:t>большинству нод (или всем нодам)</a:t>
            </a:r>
          </a:p>
        </p:txBody>
      </p:sp>
    </p:spTree>
    <p:extLst>
      <p:ext uri="{BB962C8B-B14F-4D97-AF65-F5344CB8AC3E}">
        <p14:creationId xmlns:p14="http://schemas.microsoft.com/office/powerpoint/2010/main" val="281700831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FADA1-8FD8-6DD6-7275-EC968474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4BE0B51-2C9C-594D-A153-C15DFEAE3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8B52C73D-3AF8-A0A8-6105-60B36D4EF779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Разбор этапов алгоритма. </a:t>
            </a:r>
            <a:r>
              <a:rPr lang="en-US" dirty="0"/>
              <a:t>Acceptor stage 2</a:t>
            </a:r>
            <a:endParaRPr lang="ru-RU" dirty="0"/>
          </a:p>
          <a:p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BDBC3E-6770-4886-6C9D-C81CFFEEF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737" y="4213901"/>
            <a:ext cx="10813942" cy="3231928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8BE05380-13BF-4278-7041-269D24CE26A3}"/>
              </a:ext>
            </a:extLst>
          </p:cNvPr>
          <p:cNvSpPr txBox="1"/>
          <p:nvPr/>
        </p:nvSpPr>
        <p:spPr>
          <a:xfrm>
            <a:off x="444500" y="1446477"/>
            <a:ext cx="9339581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en-US" sz="2800" dirty="0">
                <a:sym typeface="fkGroteskNeue"/>
              </a:rPr>
              <a:t>Acceptor </a:t>
            </a:r>
            <a:r>
              <a:rPr lang="ru-RU" sz="2800" dirty="0">
                <a:sym typeface="fkGroteskNeue"/>
              </a:rPr>
              <a:t>получает значение в сообщении </a:t>
            </a:r>
            <a:r>
              <a:rPr lang="en-US" sz="2800" dirty="0">
                <a:sym typeface="fkGroteskNeue"/>
              </a:rPr>
              <a:t>Accept!(n, v)</a:t>
            </a:r>
            <a:endParaRPr lang="ru-RU" sz="2800" dirty="0">
              <a:sym typeface="fkGroteskNeue"/>
            </a:endParaRPr>
          </a:p>
          <a:p>
            <a:pPr marL="514350" indent="-514350" algn="just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Если у </a:t>
            </a:r>
            <a:r>
              <a:rPr lang="en-US" sz="2800" dirty="0">
                <a:sym typeface="fkGroteskNeue"/>
              </a:rPr>
              <a:t>Acceptor-</a:t>
            </a:r>
            <a:r>
              <a:rPr lang="ru-RU" sz="2800" dirty="0">
                <a:sym typeface="fkGroteskNeue"/>
              </a:rPr>
              <a:t>а </a:t>
            </a:r>
            <a:r>
              <a:rPr lang="en-US" sz="2800" dirty="0">
                <a:sym typeface="fkGroteskNeue"/>
              </a:rPr>
              <a:t>n &gt; </a:t>
            </a:r>
            <a:r>
              <a:rPr lang="en-US" sz="2800" dirty="0" err="1">
                <a:sym typeface="fkGroteskNeue"/>
              </a:rPr>
              <a:t>n_promised</a:t>
            </a:r>
            <a:r>
              <a:rPr lang="en-US" sz="2800" dirty="0">
                <a:sym typeface="fkGroteskNeue"/>
              </a:rPr>
              <a:t> – </a:t>
            </a:r>
            <a:r>
              <a:rPr lang="ru-RU" sz="2800" dirty="0">
                <a:sym typeface="fkGroteskNeue"/>
              </a:rPr>
              <a:t>он принимает новое значение и отправляет </a:t>
            </a:r>
            <a:r>
              <a:rPr lang="en-US" sz="2800" dirty="0">
                <a:sym typeface="fkGroteskNeue"/>
              </a:rPr>
              <a:t>Accepted(n, v) </a:t>
            </a:r>
            <a:r>
              <a:rPr lang="ru-RU" sz="2800" dirty="0">
                <a:sym typeface="fkGroteskNeue"/>
              </a:rPr>
              <a:t>обратно</a:t>
            </a:r>
          </a:p>
          <a:p>
            <a:pPr marL="514350" indent="-514350" algn="just">
              <a:buSzPct val="100000"/>
              <a:buFont typeface="+mj-lt"/>
              <a:buAutoNum type="arabicPeriod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2800" dirty="0">
                <a:sym typeface="fkGroteskNeue"/>
              </a:rPr>
              <a:t>Иначе – отправляет</a:t>
            </a:r>
            <a:r>
              <a:rPr lang="en-US" sz="2800" dirty="0">
                <a:sym typeface="fkGroteskNeue"/>
              </a:rPr>
              <a:t> </a:t>
            </a:r>
            <a:r>
              <a:rPr lang="ru-RU" sz="2800" dirty="0">
                <a:sym typeface="fkGroteskNeue"/>
              </a:rPr>
              <a:t>отвергает значение и отправляет обратно значение своего максимума</a:t>
            </a:r>
          </a:p>
        </p:txBody>
      </p:sp>
    </p:spTree>
    <p:extLst>
      <p:ext uri="{BB962C8B-B14F-4D97-AF65-F5344CB8AC3E}">
        <p14:creationId xmlns:p14="http://schemas.microsoft.com/office/powerpoint/2010/main" val="316644700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30F6-8280-AB09-61BA-ED60EBD9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DBA489FF-8F2E-7556-FDA9-42B6E7D24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2B12A5B-711A-EFD7-892A-B0A8F77C9C74}"/>
              </a:ext>
            </a:extLst>
          </p:cNvPr>
          <p:cNvSpPr txBox="1"/>
          <p:nvPr/>
        </p:nvSpPr>
        <p:spPr>
          <a:xfrm>
            <a:off x="444500" y="543405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Кворумы в алгоритме </a:t>
            </a:r>
            <a:r>
              <a:rPr lang="en-US" dirty="0"/>
              <a:t>Paxos</a:t>
            </a:r>
            <a:endParaRPr lang="ru-RU" dirty="0"/>
          </a:p>
          <a:p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2A8560-469D-8CCF-5870-9072E53FC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394" y="1327624"/>
            <a:ext cx="8549348" cy="657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2330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B2FA6-D6CB-9B18-E758-A164F3DF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4264C43-78FD-F26A-0ACA-B8EB7AC44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29D2DAE7-A844-2EFF-E56D-415DEB19155C}"/>
              </a:ext>
            </a:extLst>
          </p:cNvPr>
          <p:cNvSpPr txBox="1"/>
          <p:nvPr/>
        </p:nvSpPr>
        <p:spPr>
          <a:xfrm>
            <a:off x="495300" y="3445578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0</a:t>
            </a:r>
            <a:r>
              <a:rPr lang="en-US" sz="4400" dirty="0"/>
              <a:t>:</a:t>
            </a:r>
            <a:r>
              <a:rPr lang="ru-RU" sz="4400" dirty="0"/>
              <a:t> </a:t>
            </a:r>
            <a:r>
              <a:rPr lang="en-US" sz="4400" dirty="0"/>
              <a:t>Paxos </a:t>
            </a:r>
            <a:r>
              <a:rPr lang="ru-RU" sz="4400" dirty="0"/>
              <a:t>с одним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41100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FCC6-58D7-291C-0498-F09E13D1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3E7A3FA-3583-4DBE-08BB-7FE824F73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EE97B90C-FEB0-1F87-7809-E2915E5C3B57}"/>
              </a:ext>
            </a:extLst>
          </p:cNvPr>
          <p:cNvSpPr txBox="1"/>
          <p:nvPr/>
        </p:nvSpPr>
        <p:spPr>
          <a:xfrm>
            <a:off x="444500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0</a:t>
            </a:r>
            <a:r>
              <a:rPr lang="en-US" sz="4400" dirty="0"/>
              <a:t>:</a:t>
            </a:r>
            <a:r>
              <a:rPr lang="ru-RU" sz="4400" dirty="0"/>
              <a:t> </a:t>
            </a:r>
            <a:r>
              <a:rPr lang="en-US" sz="4400" dirty="0"/>
              <a:t>Paxos </a:t>
            </a:r>
            <a:r>
              <a:rPr lang="ru-RU" sz="4400" dirty="0"/>
              <a:t>с одним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73B45B-359A-D460-BCF7-893AB53A53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100" y="1015725"/>
            <a:ext cx="10490200" cy="707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5063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E0F0-AD72-1B92-90EC-96921279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D82769F0-27A4-D364-158B-B3C5B2CDF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6F38AEAB-72C6-5302-34C0-566A29DBD48C}"/>
              </a:ext>
            </a:extLst>
          </p:cNvPr>
          <p:cNvSpPr txBox="1"/>
          <p:nvPr/>
        </p:nvSpPr>
        <p:spPr>
          <a:xfrm>
            <a:off x="590632" y="2968250"/>
            <a:ext cx="13449136" cy="2749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1: </a:t>
            </a:r>
            <a:r>
              <a:rPr lang="en-US" sz="4400" dirty="0"/>
              <a:t>Paxos </a:t>
            </a:r>
            <a:r>
              <a:rPr lang="ru-RU" sz="4400" dirty="0"/>
              <a:t>с несколькими </a:t>
            </a:r>
            <a:r>
              <a:rPr lang="en-US" sz="4400" dirty="0"/>
              <a:t>Proposer-</a:t>
            </a:r>
            <a:r>
              <a:rPr lang="ru-RU" sz="4400" dirty="0" err="1"/>
              <a:t>ами</a:t>
            </a:r>
            <a:r>
              <a:rPr lang="ru-RU" sz="4400" dirty="0"/>
              <a:t>: падение первого </a:t>
            </a:r>
            <a:r>
              <a:rPr lang="en-US" sz="4400" dirty="0"/>
              <a:t>proposer-</a:t>
            </a:r>
            <a:r>
              <a:rPr lang="ru-RU" sz="4400" dirty="0"/>
              <a:t>а и подхват его значения другим </a:t>
            </a:r>
            <a:r>
              <a:rPr lang="en-US" sz="4400" dirty="0"/>
              <a:t>proposer-</a:t>
            </a:r>
            <a:r>
              <a:rPr lang="ru-RU" sz="4400" dirty="0"/>
              <a:t>ом</a:t>
            </a:r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542908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EF8E7-D56B-A95D-4388-A15D50D87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82E5616-2293-7B6E-B217-82C31B6A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1DC838B8-420D-BCBD-3FCC-2911E9D09180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1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D29DB5-33BB-5181-A040-DCF98C534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824" y="908050"/>
            <a:ext cx="8766175" cy="707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4573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212EE-AECA-019D-EF3B-2F077F85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1EAD177-84F7-8477-4E0A-17E3DFF0B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CF1FCB8-A800-9855-7034-66B798616051}"/>
              </a:ext>
            </a:extLst>
          </p:cNvPr>
          <p:cNvSpPr txBox="1"/>
          <p:nvPr/>
        </p:nvSpPr>
        <p:spPr>
          <a:xfrm>
            <a:off x="590632" y="2968250"/>
            <a:ext cx="13449136" cy="344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2: </a:t>
            </a:r>
            <a:r>
              <a:rPr lang="en-US" sz="4400" dirty="0"/>
              <a:t>Paxos </a:t>
            </a:r>
            <a:r>
              <a:rPr lang="ru-RU" sz="4400" dirty="0"/>
              <a:t>с несколькими </a:t>
            </a:r>
            <a:r>
              <a:rPr lang="en-US" sz="4400" dirty="0"/>
              <a:t>Proposer-</a:t>
            </a:r>
            <a:r>
              <a:rPr lang="ru-RU" sz="4400" dirty="0" err="1"/>
              <a:t>ами</a:t>
            </a:r>
            <a:r>
              <a:rPr lang="ru-RU" sz="4400" dirty="0"/>
              <a:t>: падение первого </a:t>
            </a:r>
            <a:r>
              <a:rPr lang="en-US" sz="4400" dirty="0"/>
              <a:t>proposer-</a:t>
            </a:r>
            <a:r>
              <a:rPr lang="ru-RU" sz="4400" dirty="0"/>
              <a:t>а, но фиксация нового значения другим </a:t>
            </a:r>
            <a:r>
              <a:rPr lang="ru-RU" sz="4400" dirty="0" err="1"/>
              <a:t>p</a:t>
            </a:r>
            <a:r>
              <a:rPr lang="en-US" sz="4400" dirty="0" err="1"/>
              <a:t>roposer</a:t>
            </a:r>
            <a:r>
              <a:rPr lang="ru-RU" sz="4400" dirty="0"/>
              <a:t>-ом</a:t>
            </a:r>
          </a:p>
          <a:p>
            <a:pPr algn="ctr"/>
            <a:endParaRPr lang="ru-RU" sz="4400" dirty="0"/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276197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C1C1-66E7-0E77-44AF-BEEE21DD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7E0B4C5-B3AF-7EC2-C98E-25328803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746A5DBC-C09A-E49E-B3CE-4C07A21F0456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2</a:t>
            </a:r>
            <a:endParaRPr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55B7D7C-9D4D-A367-9073-63E90CA83A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162" y="903225"/>
            <a:ext cx="8220075" cy="719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1089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97F08-8B2C-F1D5-DE0F-5A9BA0597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41E4479-72E5-665E-5BE7-30DE3B664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8F875056-E306-DB71-FFB2-DC1F7FB6FA79}"/>
              </a:ext>
            </a:extLst>
          </p:cNvPr>
          <p:cNvSpPr txBox="1"/>
          <p:nvPr/>
        </p:nvSpPr>
        <p:spPr>
          <a:xfrm>
            <a:off x="590632" y="2968250"/>
            <a:ext cx="13449136" cy="4134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 3: </a:t>
            </a:r>
            <a:r>
              <a:rPr lang="en-US" sz="4400" dirty="0"/>
              <a:t>Paxos</a:t>
            </a:r>
            <a:r>
              <a:rPr lang="ru-RU" sz="4400" dirty="0"/>
              <a:t> с несколькими </a:t>
            </a:r>
            <a:r>
              <a:rPr lang="en-US" sz="4400" dirty="0"/>
              <a:t>Proposer-</a:t>
            </a:r>
            <a:r>
              <a:rPr lang="ru-RU" sz="4400" dirty="0" err="1"/>
              <a:t>ами</a:t>
            </a:r>
            <a:r>
              <a:rPr lang="ru-RU" sz="4400" dirty="0"/>
              <a:t>: падение </a:t>
            </a:r>
            <a:r>
              <a:rPr lang="en-US" sz="4400" dirty="0"/>
              <a:t>proposer-</a:t>
            </a:r>
            <a:r>
              <a:rPr lang="ru-RU" sz="4400" dirty="0"/>
              <a:t>а и </a:t>
            </a:r>
            <a:r>
              <a:rPr lang="en-US" sz="4400" dirty="0"/>
              <a:t>acceptor-</a:t>
            </a:r>
            <a:r>
              <a:rPr lang="ru-RU" sz="4400" dirty="0"/>
              <a:t>а, который принял его значение</a:t>
            </a:r>
            <a:endParaRPr lang="en-US" sz="4400" dirty="0"/>
          </a:p>
          <a:p>
            <a:pPr algn="ctr"/>
            <a:endParaRPr lang="ru-RU" sz="4400" dirty="0"/>
          </a:p>
          <a:p>
            <a:pPr algn="ctr"/>
            <a:endParaRPr lang="ru-RU" sz="4400" dirty="0"/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550076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13069-9A67-4AFF-56AE-409A9848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42A8400-1974-CEB7-3666-A96E6D67E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FC99A5C7-5C88-0795-106F-F19D7486E726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3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BE2056-111B-1B9A-3175-017C583F3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87" y="805372"/>
            <a:ext cx="7972425" cy="723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77647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AD22C-FB46-BFBD-EA76-67FD9AAA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BCF7F2B-F5E8-83DC-9415-0759335DE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4EA927EF-E1F5-888D-ADE9-B4FC84ACE227}"/>
              </a:ext>
            </a:extLst>
          </p:cNvPr>
          <p:cNvSpPr txBox="1"/>
          <p:nvPr/>
        </p:nvSpPr>
        <p:spPr>
          <a:xfrm>
            <a:off x="590632" y="3514350"/>
            <a:ext cx="13449136" cy="2749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4400" dirty="0"/>
              <a:t>Сценарий 4</a:t>
            </a:r>
            <a:r>
              <a:rPr lang="en-US" sz="4400" dirty="0"/>
              <a:t>: Paxos</a:t>
            </a:r>
            <a:r>
              <a:rPr lang="ru-RU" sz="4400" dirty="0"/>
              <a:t> и дуэль двух </a:t>
            </a:r>
            <a:r>
              <a:rPr lang="en-US" sz="4400" dirty="0"/>
              <a:t>proposer-</a:t>
            </a:r>
            <a:r>
              <a:rPr lang="ru-RU" sz="4400" dirty="0" err="1"/>
              <a:t>ов</a:t>
            </a:r>
            <a:r>
              <a:rPr lang="ru-RU" sz="4400" dirty="0"/>
              <a:t>, </a:t>
            </a:r>
            <a:r>
              <a:rPr lang="en-US" sz="4400" dirty="0" err="1"/>
              <a:t>livelock</a:t>
            </a:r>
            <a:endParaRPr lang="ru-RU" sz="4400" dirty="0"/>
          </a:p>
          <a:p>
            <a:pPr algn="ctr"/>
            <a:endParaRPr lang="ru-RU" sz="4400" dirty="0"/>
          </a:p>
          <a:p>
            <a:pPr algn="ctr"/>
            <a:endParaRPr lang="ru-RU" sz="4400" dirty="0"/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931178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044B4-77B2-3CAA-CBA9-27BEB9390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C50CA4B8-3FC6-BA11-678B-9A67EB6F6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EFCE4248-7C75-205E-C199-030EB752E8B4}"/>
              </a:ext>
            </a:extLst>
          </p:cNvPr>
          <p:cNvSpPr txBox="1"/>
          <p:nvPr/>
        </p:nvSpPr>
        <p:spPr>
          <a:xfrm>
            <a:off x="590632" y="136150"/>
            <a:ext cx="13449136" cy="66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4400" dirty="0"/>
              <a:t>Сценарий</a:t>
            </a:r>
            <a:r>
              <a:rPr lang="en-US" sz="4400" dirty="0"/>
              <a:t> </a:t>
            </a:r>
            <a:r>
              <a:rPr lang="ru-RU" sz="4400" dirty="0"/>
              <a:t>4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7A0CBB-7E5F-39E9-B6B4-8FD634B06A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975" y="983203"/>
            <a:ext cx="8934450" cy="711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62212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00DAD-A535-21FA-ED15-A436F2F7D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EC62164-42DD-95F3-3F4F-460D8B54F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Text 0">
            <a:extLst>
              <a:ext uri="{FF2B5EF4-FFF2-40B4-BE49-F238E27FC236}">
                <a16:creationId xmlns:a16="http://schemas.microsoft.com/office/drawing/2014/main" id="{04613F0F-28C2-6736-2EC1-E3FDC68477AF}"/>
              </a:ext>
            </a:extLst>
          </p:cNvPr>
          <p:cNvSpPr txBox="1"/>
          <p:nvPr/>
        </p:nvSpPr>
        <p:spPr>
          <a:xfrm>
            <a:off x="590632" y="3514350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>
              <a:buSzPct val="100000"/>
              <a:defRPr sz="2800">
                <a:latin typeface="fkGroteskNeue"/>
                <a:ea typeface="fkGroteskNeue"/>
                <a:cs typeface="fkGroteskNeue"/>
                <a:sym typeface="fkGroteskNeue"/>
              </a:defRPr>
            </a:pPr>
            <a:r>
              <a:rPr lang="ru-RU" sz="4400" dirty="0"/>
              <a:t>Выявление проблем классического </a:t>
            </a:r>
            <a:r>
              <a:rPr lang="en-US" sz="4400" dirty="0"/>
              <a:t>Paxos</a:t>
            </a:r>
            <a:endParaRPr lang="ru-RU" sz="4400" dirty="0"/>
          </a:p>
          <a:p>
            <a:pPr algn="ctr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40837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0F2E2-7704-4013-DEDB-07AD2A032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CBC1B138-150A-4EEB-C50A-B28BE8097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purple rectangular sign with black text&#10;&#10;AI-generated content may be incorrect.">
            <a:extLst>
              <a:ext uri="{FF2B5EF4-FFF2-40B4-BE49-F238E27FC236}">
                <a16:creationId xmlns:a16="http://schemas.microsoft.com/office/drawing/2014/main" id="{5B91FDF8-33B5-43BC-0C2F-F77207939A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809775"/>
            <a:ext cx="12725400" cy="66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9745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117C6-A1AE-2162-5BE4-A9A78D5E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76E0955-BB16-B390-AA11-17D2598CE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 descr="A yellow square with black text&#10;&#10;AI-generated content may be incorrect.">
            <a:extLst>
              <a:ext uri="{FF2B5EF4-FFF2-40B4-BE49-F238E27FC236}">
                <a16:creationId xmlns:a16="http://schemas.microsoft.com/office/drawing/2014/main" id="{C8C23446-28DC-9936-3BE4-EE1D152494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987425"/>
            <a:ext cx="13182600" cy="665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9534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F69F3-F81B-4340-F374-C826DBB0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0C1D871-2DE4-CC0D-F42B-C6CB652A8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yellow sign with black text&#10;&#10;AI-generated content may be incorrect.">
            <a:extLst>
              <a:ext uri="{FF2B5EF4-FFF2-40B4-BE49-F238E27FC236}">
                <a16:creationId xmlns:a16="http://schemas.microsoft.com/office/drawing/2014/main" id="{41D22926-F482-8554-7741-9B4101CE8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800542"/>
            <a:ext cx="13417550" cy="678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74471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B5EC9-AD5C-B2CA-7CE4-A7D5289AC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4FFFBCA-0975-2891-CADB-8760A87B6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 descr="A diagram of a trip&#10;&#10;AI-generated content may be incorrect.">
            <a:extLst>
              <a:ext uri="{FF2B5EF4-FFF2-40B4-BE49-F238E27FC236}">
                <a16:creationId xmlns:a16="http://schemas.microsoft.com/office/drawing/2014/main" id="{CDD86CA6-0D7D-FC31-1D6D-C0DE8E699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875" y="312800"/>
            <a:ext cx="12058650" cy="726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7174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074FF-9F2D-D583-64D2-D8CF8CA7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30B1609-6A82-5013-0D48-7D49B4D9F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diagram of a process&#10;&#10;AI-generated content may be incorrect.">
            <a:extLst>
              <a:ext uri="{FF2B5EF4-FFF2-40B4-BE49-F238E27FC236}">
                <a16:creationId xmlns:a16="http://schemas.microsoft.com/office/drawing/2014/main" id="{50E19037-2CA7-1920-0D6F-9D5A1698F3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621529"/>
            <a:ext cx="10648950" cy="696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84270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7468A-EEC8-656A-66D3-BCDAA0D6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2F121BC-E704-C746-D191-8945EFFC2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0ACA44DE-921A-4479-056B-4C61D1CAF1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848819"/>
            <a:ext cx="11715750" cy="705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52753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CEAC0-F951-EBF0-AF3D-2C74027EB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E995CDF-32EB-8CCF-0B7D-F0E1ECAA0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2FCD3746-7F85-49C8-CA6C-8C46C6E57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900" y="243176"/>
            <a:ext cx="12585700" cy="774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31883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2BCF3-B125-FC3B-1BB1-DBE4956B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5155CB4-2E54-4F74-FB9D-2FCE37BD6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DE40F0C6-3052-F124-5D4D-F76FCF273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" y="712989"/>
            <a:ext cx="13023850" cy="686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33832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10482-CA1E-86CA-C7A0-445FF867B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88CD2D7-5209-178E-FF85-781308FA0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6A0CF177-7929-8B20-4370-831FF31B11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09310"/>
            <a:ext cx="13423900" cy="721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04003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4AE2-7D3D-3F5E-3A2A-65923B91F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F9C8C42-79B6-788B-22FB-872465200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E9612CD3-DED1-9223-3772-471BB338DD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314047"/>
            <a:ext cx="13366750" cy="778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083206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F6A20-A279-B34B-502B-EFBC516AE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E0D835E-85EB-B322-4F8B-C103B6FD3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164C7341-FD62-F12C-0A67-600C393098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50" y="1663700"/>
            <a:ext cx="14008100" cy="5210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0179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FA36-BB43-E12B-9B0A-D55FBFF3A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F2FCC9A-8468-773F-232C-63DF09691F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E9E21EC-FE11-F0C1-E6D1-80583718851A}"/>
              </a:ext>
            </a:extLst>
          </p:cNvPr>
          <p:cNvSpPr txBox="1"/>
          <p:nvPr/>
        </p:nvSpPr>
        <p:spPr>
          <a:xfrm>
            <a:off x="298532" y="34429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Проблематика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6737663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3652F-7C19-414E-6D61-BC863788A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98D55D6-C004-DF76-32E2-90786958E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A90308E0-1478-4C0F-A2B0-84820A6738A4}"/>
              </a:ext>
            </a:extLst>
          </p:cNvPr>
          <p:cNvSpPr txBox="1"/>
          <p:nvPr/>
        </p:nvSpPr>
        <p:spPr>
          <a:xfrm>
            <a:off x="344758" y="3187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6E241B-83B3-E9B4-3575-34E5AA80DD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26" y="1162049"/>
            <a:ext cx="12091799" cy="684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025503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F1FF6-4CD8-08FD-011C-637EEEBA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C625956-40FE-25EC-267C-C2B04395B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618D885F-C2FB-E5AE-2327-698E7660AD40}"/>
              </a:ext>
            </a:extLst>
          </p:cNvPr>
          <p:cNvSpPr txBox="1"/>
          <p:nvPr/>
        </p:nvSpPr>
        <p:spPr>
          <a:xfrm>
            <a:off x="344758" y="3187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628618-4216-A43F-D3C2-7ADFADC301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825" y="1075776"/>
            <a:ext cx="12096750" cy="682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82072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8BA0-2850-6534-30DA-AB7C0EC90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C4714C7A-2688-F5C5-DAE2-C5E1C2092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86F2ED80-2988-D425-CC2D-A4709686EDA1}"/>
              </a:ext>
            </a:extLst>
          </p:cNvPr>
          <p:cNvSpPr txBox="1"/>
          <p:nvPr/>
        </p:nvSpPr>
        <p:spPr>
          <a:xfrm>
            <a:off x="344758" y="3187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EB5B99-613E-A6F6-4067-75B85269CE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25" y="1098353"/>
            <a:ext cx="12172950" cy="680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55924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6DC3C-371E-F050-6BD8-2966B87B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D96D9F7-8704-1F59-8EEA-34ED37689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A663D937-C881-8EE0-3A05-0340D387855C}"/>
              </a:ext>
            </a:extLst>
          </p:cNvPr>
          <p:cNvSpPr txBox="1"/>
          <p:nvPr/>
        </p:nvSpPr>
        <p:spPr>
          <a:xfrm>
            <a:off x="344758" y="3187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296749-E811-34BF-25CF-8E173F793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03" y="1178144"/>
            <a:ext cx="12153797" cy="691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540897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CF208-FE27-EEBC-175C-23A50298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EABA800-AE06-F234-0B18-80CFD0193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9D2FF69F-AEAC-6242-A6C8-8F9BF37BF37B}"/>
              </a:ext>
            </a:extLst>
          </p:cNvPr>
          <p:cNvSpPr txBox="1"/>
          <p:nvPr/>
        </p:nvSpPr>
        <p:spPr>
          <a:xfrm>
            <a:off x="344758" y="3187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6A096D-5F12-58F9-90F4-5AE743A79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100" y="990600"/>
            <a:ext cx="12255500" cy="714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96669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CA352-143E-B191-6708-69111FD9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176D092F-09FD-6B33-F5B5-A45CAC620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72F3BFC9-A06D-483C-55BF-49328CC5F600}"/>
              </a:ext>
            </a:extLst>
          </p:cNvPr>
          <p:cNvSpPr txBox="1"/>
          <p:nvPr/>
        </p:nvSpPr>
        <p:spPr>
          <a:xfrm>
            <a:off x="332058" y="3341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Идея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7585910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59E20-9D32-B983-72EA-E8BB3B90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597AC23-6464-C1B2-0F9B-0B112822B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025E0B14-D222-A298-C8C4-5B4A238CE8AE}"/>
              </a:ext>
            </a:extLst>
          </p:cNvPr>
          <p:cNvSpPr txBox="1"/>
          <p:nvPr/>
        </p:nvSpPr>
        <p:spPr>
          <a:xfrm>
            <a:off x="76364" y="3441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3" name="Picture 2" descr="A blue rectangular sign with black text&#10;&#10;AI-generated content may be incorrect.">
            <a:extLst>
              <a:ext uri="{FF2B5EF4-FFF2-40B4-BE49-F238E27FC236}">
                <a16:creationId xmlns:a16="http://schemas.microsoft.com/office/drawing/2014/main" id="{50B41C8F-696C-3ABE-F34C-DFD94910B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650" y="1606549"/>
            <a:ext cx="11855450" cy="636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71656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1F232-2DDB-619A-5645-DB50814AE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4949CCA-3640-52AB-302D-BA4207286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A45589C1-E019-668B-F322-C6034BC835E1}"/>
              </a:ext>
            </a:extLst>
          </p:cNvPr>
          <p:cNvSpPr txBox="1"/>
          <p:nvPr/>
        </p:nvSpPr>
        <p:spPr>
          <a:xfrm>
            <a:off x="76364" y="3441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4" name="Picture 3" descr="A blue and green rectangular sign&#10;&#10;AI-generated content may be incorrect.">
            <a:extLst>
              <a:ext uri="{FF2B5EF4-FFF2-40B4-BE49-F238E27FC236}">
                <a16:creationId xmlns:a16="http://schemas.microsoft.com/office/drawing/2014/main" id="{D832CF68-2C39-E8A7-D642-C0F1895164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49" y="1320798"/>
            <a:ext cx="13339003" cy="641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00673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85133-993A-D5BC-F86B-2F0533856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E73F18C-26E5-FD7B-CC80-25FA0C2D9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1E7AF1A7-FCF5-867C-FC48-2B18C2481C84}"/>
              </a:ext>
            </a:extLst>
          </p:cNvPr>
          <p:cNvSpPr txBox="1"/>
          <p:nvPr/>
        </p:nvSpPr>
        <p:spPr>
          <a:xfrm>
            <a:off x="76364" y="3441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3" name="Picture 2" descr="A group of rectangular green and blue rectangular boxes with text&#10;&#10;AI-generated content may be incorrect.">
            <a:extLst>
              <a:ext uri="{FF2B5EF4-FFF2-40B4-BE49-F238E27FC236}">
                <a16:creationId xmlns:a16="http://schemas.microsoft.com/office/drawing/2014/main" id="{3CD34727-E144-8BD0-1533-26AFDD14F0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341676"/>
            <a:ext cx="12014200" cy="621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47502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DABF-CA98-33F5-7511-A0D8D602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CCD1D8DD-01A2-CCDB-70AE-EE1AFE41D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8BFACA59-2DC3-4B6B-22BE-4EED56139E90}"/>
              </a:ext>
            </a:extLst>
          </p:cNvPr>
          <p:cNvSpPr txBox="1"/>
          <p:nvPr/>
        </p:nvSpPr>
        <p:spPr>
          <a:xfrm>
            <a:off x="76364" y="3441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4" name="Picture 3" descr="A group of colorful rectangular boxes with text&#10;&#10;AI-generated content may be incorrect.">
            <a:extLst>
              <a:ext uri="{FF2B5EF4-FFF2-40B4-BE49-F238E27FC236}">
                <a16:creationId xmlns:a16="http://schemas.microsoft.com/office/drawing/2014/main" id="{1141B6DE-74CC-C457-A877-8EA3A9A2D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75" y="1041520"/>
            <a:ext cx="12820650" cy="684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36888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793A-BA7E-FDD3-3803-5D70780A6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913ECEA-51FD-F981-ECB3-359A4FBCD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1D28C5BB-92AF-3944-A8C2-4964B00AB863}"/>
              </a:ext>
            </a:extLst>
          </p:cNvPr>
          <p:cNvSpPr txBox="1"/>
          <p:nvPr/>
        </p:nvSpPr>
        <p:spPr>
          <a:xfrm>
            <a:off x="76364" y="3441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3" name="Picture 2" descr="A group of rectangular signs with writing&#10;&#10;AI-generated content may be incorrect.">
            <a:extLst>
              <a:ext uri="{FF2B5EF4-FFF2-40B4-BE49-F238E27FC236}">
                <a16:creationId xmlns:a16="http://schemas.microsoft.com/office/drawing/2014/main" id="{DB33AA8F-BD15-B6C5-9CAE-EE4D354A2C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64" y="1727199"/>
            <a:ext cx="14051134" cy="574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485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B5CBC-2336-25DC-DE07-790705D1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D25EE92-4E12-35AF-5F3B-DA7897CD1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2381E833-B47F-DE57-5156-EE95FA9B7224}"/>
              </a:ext>
            </a:extLst>
          </p:cNvPr>
          <p:cNvSpPr txBox="1"/>
          <p:nvPr/>
        </p:nvSpPr>
        <p:spPr>
          <a:xfrm>
            <a:off x="76364" y="3441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Идея</a:t>
            </a:r>
            <a:endParaRPr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91D193C-0C81-A6B8-D1F2-60EA3D784385}"/>
              </a:ext>
            </a:extLst>
          </p:cNvPr>
          <p:cNvSpPr txBox="1"/>
          <p:nvPr/>
        </p:nvSpPr>
        <p:spPr>
          <a:xfrm>
            <a:off x="199466" y="1878884"/>
            <a:ext cx="6950634" cy="614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2800" dirty="0"/>
              <a:t>Было в классическом </a:t>
            </a:r>
            <a:r>
              <a:rPr lang="en-US" sz="2800" dirty="0"/>
              <a:t>Paxos:</a:t>
            </a:r>
            <a:endParaRPr sz="2800" dirty="0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B1EBC7E-0D9A-66A5-7D9C-2251B5DC3884}"/>
              </a:ext>
            </a:extLst>
          </p:cNvPr>
          <p:cNvSpPr txBox="1"/>
          <p:nvPr/>
        </p:nvSpPr>
        <p:spPr>
          <a:xfrm>
            <a:off x="8166100" y="1878884"/>
            <a:ext cx="5359400" cy="614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2800" dirty="0"/>
              <a:t>Стало в </a:t>
            </a:r>
            <a:r>
              <a:rPr lang="en-US" sz="2800" dirty="0"/>
              <a:t>Multi-Paxos</a:t>
            </a:r>
            <a:endParaRPr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A31D5-3A6E-D9A6-3855-D81DE485C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66" y="4002703"/>
            <a:ext cx="6134097" cy="1709002"/>
          </a:xfrm>
          <a:prstGeom prst="rect">
            <a:avLst/>
          </a:prstGeom>
        </p:spPr>
      </p:pic>
      <p:pic>
        <p:nvPicPr>
          <p:cNvPr id="8" name="Picture 7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9CFE00E-6434-91F2-D8B9-24102CC495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3858727"/>
            <a:ext cx="7512352" cy="199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977546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2A01-4877-FFF0-3DB1-E14872C1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A39D484-A86B-3326-A2A3-1450D56C8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9027C94-2042-1962-A5BA-5F563E6EC12B}"/>
              </a:ext>
            </a:extLst>
          </p:cNvPr>
          <p:cNvSpPr txBox="1"/>
          <p:nvPr/>
        </p:nvSpPr>
        <p:spPr>
          <a:xfrm>
            <a:off x="298532" y="34429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Алгоритм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0468079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64454-027A-CCD4-40B6-4DEF989C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F501109-F4CC-CBEF-265B-D13763D38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407E6C58-E86E-468D-6B18-A5839E70A2C2}"/>
              </a:ext>
            </a:extLst>
          </p:cNvPr>
          <p:cNvSpPr txBox="1"/>
          <p:nvPr/>
        </p:nvSpPr>
        <p:spPr>
          <a:xfrm>
            <a:off x="76364" y="3441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4888A1-2490-590E-EA13-1C03A10C38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" y="1136675"/>
            <a:ext cx="10045700" cy="676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98589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6B0F-2174-339F-B977-6F9D2FAFA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3742C7E-63BE-6985-AAA4-CA6385E98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896F7C55-417D-68CB-41D4-7E8AFEAB7743}"/>
              </a:ext>
            </a:extLst>
          </p:cNvPr>
          <p:cNvSpPr txBox="1"/>
          <p:nvPr/>
        </p:nvSpPr>
        <p:spPr>
          <a:xfrm>
            <a:off x="76364" y="3441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Алгоритм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F31F5D-667F-5D98-444C-370A56FE51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575" y="1016000"/>
            <a:ext cx="10509250" cy="700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39918"/>
      </p:ext>
    </p:extLst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37D11-6098-4F58-203E-9421F54A4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0D81574-C009-242D-E993-920555D07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DC527205-4C6B-962D-901E-55A3617C840A}"/>
              </a:ext>
            </a:extLst>
          </p:cNvPr>
          <p:cNvSpPr txBox="1"/>
          <p:nvPr/>
        </p:nvSpPr>
        <p:spPr>
          <a:xfrm>
            <a:off x="76364" y="3441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Алгоритм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911ECD-916E-B323-A7E2-1998FA907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800" y="1122743"/>
            <a:ext cx="10464800" cy="695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05859"/>
      </p:ext>
    </p:extLst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EDFA-899D-AAD3-5216-BDFE4BEFE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A62B8A4-1477-B492-08CE-B53354671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1FAC1DD-9617-566F-F765-982E323E1E71}"/>
              </a:ext>
            </a:extLst>
          </p:cNvPr>
          <p:cNvSpPr txBox="1"/>
          <p:nvPr/>
        </p:nvSpPr>
        <p:spPr>
          <a:xfrm>
            <a:off x="76364" y="3441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Алгоритм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2EFAC3-8537-9C51-1943-1F3E7E215E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875" y="1016000"/>
            <a:ext cx="11004654" cy="693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169029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4C017-F43E-7B60-049D-EA2F50010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E32C6BE-6AC2-3A1D-F9C4-D3AE29D6C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A53EAD0-BF95-B7BC-D8E6-CBA8B5B6F6BF}"/>
              </a:ext>
            </a:extLst>
          </p:cNvPr>
          <p:cNvSpPr txBox="1"/>
          <p:nvPr/>
        </p:nvSpPr>
        <p:spPr>
          <a:xfrm>
            <a:off x="298532" y="34429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Выбор лидера и восстановление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1096103"/>
      </p:ext>
    </p:extLst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FC8EC-53BA-7CBE-2532-ADA661D5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C1AA821-5BE2-E939-972E-94CFADB99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BCE0E89-66B2-B313-5622-85400A71EAF3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Смена лидера и восстановление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47F541-CAE2-CEF1-4F06-54B116839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100" y="1003300"/>
            <a:ext cx="9474200" cy="706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04673"/>
      </p:ext>
    </p:extLst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64210-9B7C-873E-670A-D9E6E8547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B678C26-7745-8324-BADB-970AFFB97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BA81377-AD1E-429A-66D0-A2533A8F9EBA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Смена лидера и восстановление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BF94EB-0D00-7B53-1EC9-B2B8A0EC61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689" y="1100236"/>
            <a:ext cx="8931212" cy="693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86194"/>
      </p:ext>
    </p:extLst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3B694-206D-E649-AA69-0768BB3CE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3E82D19-09B7-54D5-8507-432B41F50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72F3E9C-40C6-E01F-A5F4-4F55A183170C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Смена лидера и восстановление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D07D967-D37E-13C9-D811-C394B36D6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00" y="1003300"/>
            <a:ext cx="9525000" cy="695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1453"/>
      </p:ext>
    </p:extLst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A885D-ECA5-A2DC-70EA-495AC3A24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1E211EC-FD2A-2C05-A388-775B47346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477C7D9-B657-BF5D-C988-AA59AF9EB536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Смена лидера и восстановление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53CD0B-E2AA-A824-27C7-DE2EF5AC4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63" y="1188562"/>
            <a:ext cx="9905873" cy="704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44651"/>
      </p:ext>
    </p:extLst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FFA56-8E91-84FC-BE3B-7B9DDB1B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47C0152-C3C5-0BC1-43DD-05211F70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672BF17-4DF6-AE2C-437C-D0EDA7E26BD5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Смена лидера и восстановление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20808F-B820-EB1D-8B93-C693B807E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699" y="1156324"/>
            <a:ext cx="9728201" cy="696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52548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BFE88-E30C-8CCF-26F0-E6DA83E9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144CF7D-0B04-12D9-FBCE-BDC40203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FC0A8CA-EFC6-89B4-C2A0-24B28318B3DE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Смена лидера и восстановление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70B901-AE33-5505-C6AE-A15841BA91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900" y="1003300"/>
            <a:ext cx="9626600" cy="714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0762"/>
      </p:ext>
    </p:extLst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FA6B0-5FC4-4453-AD42-1893EC953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F571F73-0E98-A7E2-1AE7-1301ABD90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BFE60FE-D0DC-62AB-8BFB-2F998C917896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Смена лидера и восстановление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53BAD9-FE97-EB40-6270-43CCD0C85A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150" y="1003300"/>
            <a:ext cx="9810750" cy="721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219514"/>
      </p:ext>
    </p:extLst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8C30A-65C0-4D74-77C7-F3CF07A7E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6FEBD84-BF3E-597F-1337-06DE135CE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6B882A9-2A3E-8D01-E4B2-FD9343D16AC1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Смена лидера и восстановление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ABD05C-E25E-C215-A73A-43D99E6377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750" y="1137565"/>
            <a:ext cx="9232900" cy="676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540445"/>
      </p:ext>
    </p:extLst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01620-65BF-5324-4257-5709DCA0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99D0D90-0E6E-6376-F647-76498F5B5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BE0996B-75FF-00FA-D5F3-381D1C592C11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Смена лидера и восстановление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C02A11-0FFB-B956-2563-3D9DE48AEE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400" y="1325964"/>
            <a:ext cx="9245600" cy="667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621800"/>
      </p:ext>
    </p:extLst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25DBB-27D9-DFA9-903E-51B1F2A1A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002E33A-8FFD-64B1-D960-1A27EFC25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A55E752-D473-4467-8882-2B8D71620BE9}"/>
              </a:ext>
            </a:extLst>
          </p:cNvPr>
          <p:cNvSpPr txBox="1"/>
          <p:nvPr/>
        </p:nvSpPr>
        <p:spPr>
          <a:xfrm>
            <a:off x="590632" y="140949"/>
            <a:ext cx="13449136" cy="1364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Multi-Paxos. </a:t>
            </a:r>
            <a:r>
              <a:rPr lang="ru-RU" dirty="0"/>
              <a:t>Трейд-</a:t>
            </a:r>
            <a:r>
              <a:rPr lang="ru-RU" dirty="0" err="1"/>
              <a:t>оффы</a:t>
            </a:r>
            <a:br>
              <a:rPr lang="en-US" dirty="0"/>
            </a:br>
            <a:r>
              <a:rPr lang="ru-RU" dirty="0"/>
              <a:t>в сравнении с классическим </a:t>
            </a:r>
            <a:r>
              <a:rPr lang="en-US" dirty="0"/>
              <a:t>Paxos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B04635-97FB-FB49-2E1D-4476D50C9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0" y="2316413"/>
            <a:ext cx="12585700" cy="222718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280E137-C09E-47BA-149B-5E723DA203A4}"/>
              </a:ext>
            </a:extLst>
          </p:cNvPr>
          <p:cNvSpPr txBox="1"/>
          <p:nvPr/>
        </p:nvSpPr>
        <p:spPr>
          <a:xfrm>
            <a:off x="304964" y="6749117"/>
            <a:ext cx="13449136" cy="1339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rPr lang="ru-RU" sz="2800" dirty="0"/>
              <a:t>В реальности используется в</a:t>
            </a:r>
            <a:r>
              <a:rPr lang="en-US" sz="2800" dirty="0"/>
              <a:t>:</a:t>
            </a:r>
          </a:p>
          <a:p>
            <a:r>
              <a:rPr lang="en-US" sz="2800" dirty="0"/>
              <a:t>Cassandra LW Transactions, Google Spanner, Google Chubby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1930260869"/>
      </p:ext>
    </p:extLst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341FB-4967-D49D-27BC-B348F64D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3FB7CD4-145F-5E3E-5724-CF4E3801D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AECD6D5-3788-2F42-CB95-62DDB7007246}"/>
              </a:ext>
            </a:extLst>
          </p:cNvPr>
          <p:cNvSpPr txBox="1"/>
          <p:nvPr/>
        </p:nvSpPr>
        <p:spPr>
          <a:xfrm>
            <a:off x="298532" y="34429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Проблематика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2680806"/>
      </p:ext>
    </p:extLst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C1199-6A20-CA8F-A443-EA311C5C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F52B30D-95A1-FD14-7592-3E32E9DDC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D09A87C-2791-BB8D-0612-EA846EC7EB30}"/>
              </a:ext>
            </a:extLst>
          </p:cNvPr>
          <p:cNvSpPr txBox="1"/>
          <p:nvPr/>
        </p:nvSpPr>
        <p:spPr>
          <a:xfrm>
            <a:off x="590632" y="2806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93FBBB-E447-354F-8615-958A832FF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1428750"/>
            <a:ext cx="12526711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560715"/>
      </p:ext>
    </p:extLst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4D303-943C-17DC-5F62-92DCCF5BA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B78410C-511E-4F2F-FDF0-D6363FD99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823EDB2-44B6-5E98-83CA-018227585AE6}"/>
              </a:ext>
            </a:extLst>
          </p:cNvPr>
          <p:cNvSpPr txBox="1"/>
          <p:nvPr/>
        </p:nvSpPr>
        <p:spPr>
          <a:xfrm>
            <a:off x="590632" y="2806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A6DF4CE-E8A6-67C1-AA98-9A681F5CC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07" y="1441449"/>
            <a:ext cx="13102661" cy="634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01167"/>
      </p:ext>
    </p:extLst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8B06E-3048-DCC2-B9F7-FF9A237B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1D3DCA73-2303-6D37-C974-5199C5D62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40E6CD2-8F03-82F8-2529-72492FA7E792}"/>
              </a:ext>
            </a:extLst>
          </p:cNvPr>
          <p:cNvSpPr txBox="1"/>
          <p:nvPr/>
        </p:nvSpPr>
        <p:spPr>
          <a:xfrm>
            <a:off x="590632" y="2806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B107495-ADF8-5F36-DC1C-26704FF935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1257299"/>
            <a:ext cx="13169900" cy="639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2525"/>
      </p:ext>
    </p:extLst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12D83-3840-D805-1F3E-E0DF6F37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FAC3C3F8-CAD4-4482-5E20-9B4A3400A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682E8F0-6D0E-79CE-A348-8D2AC87C24F2}"/>
              </a:ext>
            </a:extLst>
          </p:cNvPr>
          <p:cNvSpPr txBox="1"/>
          <p:nvPr/>
        </p:nvSpPr>
        <p:spPr>
          <a:xfrm>
            <a:off x="590632" y="2806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D72914-D1D6-F83C-F524-7FD68F285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180" y="1250950"/>
            <a:ext cx="13160588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3884"/>
      </p:ext>
    </p:extLst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B77C9-8492-6C8A-0956-FE436990F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841092E-75ED-46D9-6C5B-7FEC9C553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56FE3DF-6FB3-0C7E-436E-224C5D977719}"/>
              </a:ext>
            </a:extLst>
          </p:cNvPr>
          <p:cNvSpPr txBox="1"/>
          <p:nvPr/>
        </p:nvSpPr>
        <p:spPr>
          <a:xfrm>
            <a:off x="590632" y="35318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Идея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5642784"/>
      </p:ext>
    </p:extLst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967CD-21B5-8B61-CFED-35FA88E2F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112C2370-E68D-3FDD-1D0D-8E7B25187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93297FA-EE2A-8235-9D44-B2B261AE0826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4" name="Picture 3" descr="A blue rectangle with black text&#10;&#10;AI-generated content may be incorrect.">
            <a:extLst>
              <a:ext uri="{FF2B5EF4-FFF2-40B4-BE49-F238E27FC236}">
                <a16:creationId xmlns:a16="http://schemas.microsoft.com/office/drawing/2014/main" id="{0CEE32F3-EAC0-F6CF-39F5-1AF62AD477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99" y="1568450"/>
            <a:ext cx="12846210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789837"/>
      </p:ext>
    </p:extLst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9225-74EC-64EF-BC1A-C771C01C4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9D1D16D-2ACD-056D-7AB7-2D252951F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DE7BDBA-0049-4422-446C-B619A087AB3A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5" name="Picture 4" descr="A blue rectangle with black text&#10;&#10;AI-generated content may be incorrect.">
            <a:extLst>
              <a:ext uri="{FF2B5EF4-FFF2-40B4-BE49-F238E27FC236}">
                <a16:creationId xmlns:a16="http://schemas.microsoft.com/office/drawing/2014/main" id="{F16A5A77-3D62-5EB1-92DF-04BEE86BD0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1682750"/>
            <a:ext cx="12829276" cy="568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58151"/>
      </p:ext>
    </p:extLst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5203-29A0-79D5-5260-9BDB54304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99E34B65-B237-3E9D-C706-23643CFC8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0AA3AB0-DE57-9F43-A71F-0E9AD0EBA45F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4" name="Picture 3" descr="A green rectangular box with black text&#10;&#10;AI-generated content may be incorrect.">
            <a:extLst>
              <a:ext uri="{FF2B5EF4-FFF2-40B4-BE49-F238E27FC236}">
                <a16:creationId xmlns:a16="http://schemas.microsoft.com/office/drawing/2014/main" id="{DA955F3A-E71C-CB0F-5519-B65448DACB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1" y="1581149"/>
            <a:ext cx="13145519" cy="643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0942"/>
      </p:ext>
    </p:extLst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C8F5C-FFBB-216A-E52A-5BFD5BC04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3247C42-A121-23A0-D396-ECD392286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DBE0424-EC20-CC2E-EC1B-7721BD245F6F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3D554D92-DF77-E5FD-DDD3-ED61E12262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0" y="1435099"/>
            <a:ext cx="12020550" cy="633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42905"/>
      </p:ext>
    </p:extLst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CDB33-25A1-1AEE-EC46-7AC1FACEA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EC3662B-C32E-C916-AE1C-E56A39CE5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9E34509-208C-3BCC-CA2D-7ABC7F2D2771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2C5CE82A-EB66-E7C6-7FA6-CE927D2648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11" y="1758950"/>
            <a:ext cx="14031378" cy="540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78210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00E44-59FA-9178-BC32-7DE8438B1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1D760845-03B5-E030-EBDE-E6B7C7B8A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9E4D3EC-C38B-3E4D-6A4E-63A6A5431DD5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416C518-67D2-761B-81F0-E4BBD151CA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33" y="3800474"/>
            <a:ext cx="6338416" cy="1517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AEC1F0-30EF-9CBE-892E-944FA546B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483" y="3800473"/>
            <a:ext cx="6617949" cy="151765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6FECC72C-A1A5-BF41-0529-0ACFC725980D}"/>
              </a:ext>
            </a:extLst>
          </p:cNvPr>
          <p:cNvSpPr txBox="1"/>
          <p:nvPr/>
        </p:nvSpPr>
        <p:spPr>
          <a:xfrm>
            <a:off x="199466" y="1878884"/>
            <a:ext cx="6950634" cy="614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2800" dirty="0"/>
              <a:t>Было в </a:t>
            </a:r>
            <a:r>
              <a:rPr lang="en-US" sz="2800" dirty="0"/>
              <a:t>Multi-Paxos:</a:t>
            </a:r>
            <a:endParaRPr sz="28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0248D14-2FCE-E0EB-D5BB-AEE761353587}"/>
              </a:ext>
            </a:extLst>
          </p:cNvPr>
          <p:cNvSpPr txBox="1"/>
          <p:nvPr/>
        </p:nvSpPr>
        <p:spPr>
          <a:xfrm>
            <a:off x="7582929" y="1916611"/>
            <a:ext cx="5359400" cy="614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sz="2800" dirty="0"/>
              <a:t>Стало в </a:t>
            </a:r>
            <a:r>
              <a:rPr lang="en-US" sz="2800" dirty="0"/>
              <a:t>Fast-Paxos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720764143"/>
      </p:ext>
    </p:extLst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0D9E1-9E9A-2E55-112A-2C0C643DA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DBF76C2-BB3A-595F-609D-90C9CE6DD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54307F2-0223-6326-B920-15EE52656536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31E214-94B0-4243-B23D-C41A24D67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539" y="976869"/>
            <a:ext cx="11584975" cy="712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07530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8C25A-1353-47B9-5897-AA23BB75D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EFDE84C-25D4-B1A7-8416-9FF9BA2E6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410D97D-2CFB-F16E-3F06-D10B7A4DDB43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A316DA-E288-E2B1-DCB5-E8D680C8D4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61" y="982289"/>
            <a:ext cx="12417339" cy="708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34160"/>
      </p:ext>
    </p:extLst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7FF37-83AB-841F-FA8D-85EF9150D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ACFE272-17A5-379C-63F8-C8DC17BD3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CEA4325-3FE8-7327-8718-B5CB812EF2B2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0DF77E-5A5B-E0F9-8655-FA012C8898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317" y="1020289"/>
            <a:ext cx="11740121" cy="706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32010"/>
      </p:ext>
    </p:extLst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2ED3-110E-3073-E158-A0AB1A4A5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879AA44-ABBD-9E44-E978-BE65BD7A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1456BE8-20B9-E7BF-C54B-9448B21421A5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CA06D-576C-6891-9812-20758A4B88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19" y="838200"/>
            <a:ext cx="12742562" cy="725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537065"/>
      </p:ext>
    </p:extLst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5078-A7D1-EC9A-14BB-960F70A23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D5E2CBA-51B4-ED9E-99A9-E5E0A9EFD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333E02D-91F3-455D-E337-32ADFBA165FB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06E917-A7A9-457E-B60E-9D37A0C15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709" y="1026149"/>
            <a:ext cx="11970437" cy="708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638753"/>
      </p:ext>
    </p:extLst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EB8A-8D87-A5DF-2D6D-6D02E3038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C3F50926-721E-F70A-CEBE-E0BF487DE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643CE88-F745-924C-F36B-2D18720CE1ED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C7B9DE-41E2-3BE1-5124-3E5593D792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009" y="838200"/>
            <a:ext cx="12124382" cy="727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74654"/>
      </p:ext>
    </p:extLst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8F45-097D-4705-116C-63CC971FD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6319DAA-FEC6-6BE7-00E1-6C47D2A4C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125172A-F1F1-ACD9-9F36-13E99579DB55}"/>
              </a:ext>
            </a:extLst>
          </p:cNvPr>
          <p:cNvSpPr txBox="1"/>
          <p:nvPr/>
        </p:nvSpPr>
        <p:spPr>
          <a:xfrm>
            <a:off x="590632" y="1663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AE100B-336D-6123-3FEE-FB14FC1A9C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90" y="992002"/>
            <a:ext cx="12259620" cy="70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19810"/>
      </p:ext>
    </p:extLst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53D32-296E-9E70-197A-77D6B30F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5941225-BB8B-0593-C857-A792106AA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A569B70-DF1F-30DC-FC91-0CEC44780B41}"/>
              </a:ext>
            </a:extLst>
          </p:cNvPr>
          <p:cNvSpPr txBox="1"/>
          <p:nvPr/>
        </p:nvSpPr>
        <p:spPr>
          <a:xfrm>
            <a:off x="590632" y="3342035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 при коллизии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0028582"/>
      </p:ext>
    </p:extLst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03D3E-69E0-8155-8996-CD6502F5B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1B1612FA-1AF7-96F9-C30A-283C79C2E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1C0A85F-CB2B-B4AF-89CF-C4A578403067}"/>
              </a:ext>
            </a:extLst>
          </p:cNvPr>
          <p:cNvSpPr txBox="1"/>
          <p:nvPr/>
        </p:nvSpPr>
        <p:spPr>
          <a:xfrm>
            <a:off x="590632" y="15399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 при коллизии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5C8C7C-FDE6-4E2D-7F54-5B9886B6F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678" y="1013942"/>
            <a:ext cx="9646937" cy="710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94806"/>
      </p:ext>
    </p:extLst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11524-8CAB-F64D-79A8-0F1271C18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44FD082-1555-EE96-DADF-4C7D7A283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E385DD3-E591-812F-99CE-CEAB82DDC42E}"/>
              </a:ext>
            </a:extLst>
          </p:cNvPr>
          <p:cNvSpPr txBox="1"/>
          <p:nvPr/>
        </p:nvSpPr>
        <p:spPr>
          <a:xfrm>
            <a:off x="590632" y="15399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 при коллизии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B96E3D-2D42-C0D7-D9E3-693C3B7875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3052" y="690574"/>
            <a:ext cx="9864296" cy="738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18365"/>
      </p:ext>
    </p:extLst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BA5BB-C667-6918-C5D2-0F9E5BA1E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D5987E5C-3398-1847-5605-6DD386483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2EB096E-0D34-8026-9CF4-BA521F8EA026}"/>
              </a:ext>
            </a:extLst>
          </p:cNvPr>
          <p:cNvSpPr txBox="1"/>
          <p:nvPr/>
        </p:nvSpPr>
        <p:spPr>
          <a:xfrm>
            <a:off x="590632" y="15399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 при коллизии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EFF464-9E02-F3E9-EAD0-6DFFCFE161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579" y="860951"/>
            <a:ext cx="9668825" cy="724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29555"/>
      </p:ext>
    </p:extLst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5D73D-FEC1-D41F-9489-BFB12F98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5384B4F-560B-6AB5-34B0-3BF946F83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047E6CF-4694-801D-28E2-D76929CE40D2}"/>
              </a:ext>
            </a:extLst>
          </p:cNvPr>
          <p:cNvSpPr txBox="1"/>
          <p:nvPr/>
        </p:nvSpPr>
        <p:spPr>
          <a:xfrm>
            <a:off x="590632" y="15399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 при коллизии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F39A17-D1E0-AC93-97F0-06B4608DF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968" y="1013899"/>
            <a:ext cx="9454463" cy="721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78891"/>
      </p:ext>
    </p:extLst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6363-DE20-885D-06EF-24B849811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83D4D0E-34DC-6D96-D97D-2488DD634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41C25A8-16EA-8B25-DAAF-64D2F5EBFBC6}"/>
              </a:ext>
            </a:extLst>
          </p:cNvPr>
          <p:cNvSpPr txBox="1"/>
          <p:nvPr/>
        </p:nvSpPr>
        <p:spPr>
          <a:xfrm>
            <a:off x="590632" y="15399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 при коллизии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FBD1E1-8DB8-3660-0F57-1D2CDBE7DE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320" y="915797"/>
            <a:ext cx="9483760" cy="715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17863"/>
      </p:ext>
    </p:extLst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8AF46-CCD9-8DB9-98F5-023270C1D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E7D09C0-7F5A-DD5B-9F12-024596EE0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4E4998F-44C0-0D11-958C-7C9CECA35604}"/>
              </a:ext>
            </a:extLst>
          </p:cNvPr>
          <p:cNvSpPr txBox="1"/>
          <p:nvPr/>
        </p:nvSpPr>
        <p:spPr>
          <a:xfrm>
            <a:off x="590632" y="15399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 при коллизии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088368-71BF-DFBC-5FD6-2B6B3B69B8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591" y="825843"/>
            <a:ext cx="10147218" cy="709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079869"/>
      </p:ext>
    </p:extLst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0556-8A92-6A15-FAB7-697BF0E2F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C8F4E330-D753-4D5F-0ACC-76917F105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A2FE992-EC2D-6F01-BB6F-10700EC99DBD}"/>
              </a:ext>
            </a:extLst>
          </p:cNvPr>
          <p:cNvSpPr txBox="1"/>
          <p:nvPr/>
        </p:nvSpPr>
        <p:spPr>
          <a:xfrm>
            <a:off x="590632" y="15399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 при коллизии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C01EDA-3E0F-5F99-8DB8-91D69D6D14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034" y="825843"/>
            <a:ext cx="9920331" cy="726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40226"/>
      </p:ext>
    </p:extLst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BA0A-93BF-D7BC-A33A-6D5400AC5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FE9630BF-4E09-B3A3-21A6-EE913736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1ADB0E7-085B-0557-99A7-351EBC60FE5E}"/>
              </a:ext>
            </a:extLst>
          </p:cNvPr>
          <p:cNvSpPr txBox="1"/>
          <p:nvPr/>
        </p:nvSpPr>
        <p:spPr>
          <a:xfrm>
            <a:off x="590632" y="15399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Fast-Paxos. </a:t>
            </a:r>
            <a:r>
              <a:rPr lang="ru-RU" dirty="0"/>
              <a:t>Алгоритм при коллизии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6229E2-7406-C23A-7F0A-5CF536D2BE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65" y="1505465"/>
            <a:ext cx="8729731" cy="639050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2CC6F52-1DE2-9FBC-91CF-5A415A94D630}"/>
              </a:ext>
            </a:extLst>
          </p:cNvPr>
          <p:cNvSpPr txBox="1"/>
          <p:nvPr/>
        </p:nvSpPr>
        <p:spPr>
          <a:xfrm>
            <a:off x="9178578" y="928255"/>
            <a:ext cx="5550676" cy="4050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r>
              <a:rPr lang="ru-RU" sz="2000" dirty="0"/>
              <a:t>Замечание: </a:t>
            </a:r>
          </a:p>
          <a:p>
            <a:r>
              <a:rPr lang="ru-RU" sz="2000" dirty="0"/>
              <a:t>При конфликте необходимо</a:t>
            </a:r>
            <a:r>
              <a:rPr lang="en-US" sz="2000" dirty="0"/>
              <a:t> </a:t>
            </a:r>
            <a:r>
              <a:rPr lang="ru-RU" sz="2000" dirty="0"/>
              <a:t>иметь возможность разрешать конфликты и при этом быть устойчивым с учетом отказа </a:t>
            </a:r>
            <a:r>
              <a:rPr lang="en-US" sz="2000" dirty="0"/>
              <a:t>f </a:t>
            </a:r>
            <a:r>
              <a:rPr lang="ru-RU" sz="2000" dirty="0"/>
              <a:t>нод.</a:t>
            </a:r>
          </a:p>
          <a:p>
            <a:r>
              <a:rPr lang="ru-RU" sz="2000" dirty="0"/>
              <a:t>В связи с этим для </a:t>
            </a:r>
            <a:r>
              <a:rPr lang="en-US" sz="2000" dirty="0"/>
              <a:t>Fast-Paxos</a:t>
            </a:r>
            <a:br>
              <a:rPr lang="en-US" sz="2000" dirty="0"/>
            </a:br>
            <a:r>
              <a:rPr lang="ru-RU" sz="2000" dirty="0"/>
              <a:t>необходимо</a:t>
            </a:r>
            <a:r>
              <a:rPr lang="en-US" sz="2000" dirty="0"/>
              <a:t>: 3f + 1 </a:t>
            </a:r>
            <a:r>
              <a:rPr lang="ru-RU" sz="2000" dirty="0"/>
              <a:t>нод</a:t>
            </a:r>
            <a:r>
              <a:rPr lang="en-US" sz="2000" dirty="0"/>
              <a:t>.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C90B67C-D6C8-C106-0FE1-FA9100473A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956" y="5432619"/>
            <a:ext cx="5587444" cy="247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83585"/>
      </p:ext>
    </p:extLst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407D7-5214-6E85-0607-20E130C60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C21EA76C-3F9B-A0E5-764B-9B8D14F86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05B4D1D-453D-5FFA-F065-F7C7E144F3B8}"/>
              </a:ext>
            </a:extLst>
          </p:cNvPr>
          <p:cNvSpPr txBox="1"/>
          <p:nvPr/>
        </p:nvSpPr>
        <p:spPr>
          <a:xfrm>
            <a:off x="590632" y="35318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Проблематика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5039527"/>
      </p:ext>
    </p:extLst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2AB41-A98A-25F5-12AD-83FB5FD8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6CF775A-BC5C-BA58-4555-001003156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6EB1425-C52B-C7C4-D0A3-2CE0FB404502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DFA311-2208-19E1-F332-2C98A4ACF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076" y="1647874"/>
            <a:ext cx="10131168" cy="625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600268"/>
      </p:ext>
    </p:extLst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A1E3B-06CE-151F-2F04-1496AA60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D6FD694-7FB5-1886-799E-620A3D596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4E61720-5DC8-C464-B3BD-7D3FC79D03E0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DD517C-4CD7-A03B-2261-ACFE9645A9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361" y="1165998"/>
            <a:ext cx="10852665" cy="691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5205"/>
      </p:ext>
    </p:extLst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61FD5-7A12-A60A-E903-F51C51E4F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CA607E4-16F4-8258-FED5-B00FD16C8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93379DF-D391-B917-6A0A-2E175E04C4EC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ECB190-2AE0-BEE8-97D0-7293F440E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881" y="1279642"/>
            <a:ext cx="10470292" cy="668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545045"/>
      </p:ext>
    </p:extLst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E40F9-352E-027D-A6A2-EC333BC8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AB9D46F3-DEBF-65DD-0CBB-45775B9DF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EBDA7354-FE13-64EB-FB76-706607252677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359104-5FBB-9556-D80D-E3D08E08D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26" y="1003300"/>
            <a:ext cx="10993910" cy="70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84101"/>
      </p:ext>
    </p:extLst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ECA4-0F9A-4E6A-4F7E-BEA062A21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C2C8951-DE97-3C3C-F782-51B3C749F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E7D7EA6-9DFF-7463-79A9-281DEDB3C791}"/>
              </a:ext>
            </a:extLst>
          </p:cNvPr>
          <p:cNvSpPr txBox="1"/>
          <p:nvPr/>
        </p:nvSpPr>
        <p:spPr>
          <a:xfrm>
            <a:off x="590632" y="3314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Идея</a:t>
            </a:r>
            <a:endParaRPr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7D6777-B762-CFC4-A0DD-5F5B8B4B2F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154" y="1003300"/>
            <a:ext cx="11196938" cy="705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2794"/>
      </p:ext>
    </p:extLst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AB62-FFD0-0B69-98E6-AF9A9F66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C394900-C13F-9F8C-22E1-2ECF5417C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F0E10CB-159D-D944-BBEE-B0F6DA9F047F}"/>
              </a:ext>
            </a:extLst>
          </p:cNvPr>
          <p:cNvSpPr txBox="1"/>
          <p:nvPr/>
        </p:nvSpPr>
        <p:spPr>
          <a:xfrm>
            <a:off x="590632" y="34429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Алгоритм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9293517"/>
      </p:ext>
    </p:extLst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15FDD-46E2-DE36-6B61-462A93D3E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F5C90C8-788D-604F-924B-6CD2F6DB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E72A6A7-3DBF-DCE7-69BF-78F2E375CF95}"/>
              </a:ext>
            </a:extLst>
          </p:cNvPr>
          <p:cNvSpPr txBox="1"/>
          <p:nvPr/>
        </p:nvSpPr>
        <p:spPr>
          <a:xfrm>
            <a:off x="590632" y="16840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276B53-30D9-9C06-E8DF-0CE840C284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82" y="840260"/>
            <a:ext cx="9905918" cy="737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10244"/>
      </p:ext>
    </p:extLst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C958-9285-23DB-C821-A7574F192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9B9A924-1762-2949-5E75-2B651C4E8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AA5D237-3855-39E8-9202-3B6393C7CBF9}"/>
              </a:ext>
            </a:extLst>
          </p:cNvPr>
          <p:cNvSpPr txBox="1"/>
          <p:nvPr/>
        </p:nvSpPr>
        <p:spPr>
          <a:xfrm>
            <a:off x="590632" y="16840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CA5B53-415F-3BC3-0992-2E39A620B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836" y="873529"/>
            <a:ext cx="9897764" cy="718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33383"/>
      </p:ext>
    </p:extLst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0AD6D-E809-DDBD-9D9F-71325949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48208AB6-CB41-2787-CAB0-41675E57D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CBBF60F-1F5B-0A12-156C-C466ACF75A3B}"/>
              </a:ext>
            </a:extLst>
          </p:cNvPr>
          <p:cNvSpPr txBox="1"/>
          <p:nvPr/>
        </p:nvSpPr>
        <p:spPr>
          <a:xfrm>
            <a:off x="590632" y="16840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0CB150-E90D-DFF8-D683-56BFA6A8D7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763" y="994898"/>
            <a:ext cx="9919988" cy="706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2246"/>
      </p:ext>
    </p:extLst>
  </p:cSld>
  <p:clrMapOvr>
    <a:masterClrMapping/>
  </p:clrMapOvr>
  <p:transition spd="med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2B9B-56E3-D017-192E-67004C2BA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E05B42F-9FA1-EFCB-5D3D-330483E81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19EF142-B166-9A55-2668-F358671EDE80}"/>
              </a:ext>
            </a:extLst>
          </p:cNvPr>
          <p:cNvSpPr txBox="1"/>
          <p:nvPr/>
        </p:nvSpPr>
        <p:spPr>
          <a:xfrm>
            <a:off x="590632" y="16840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8FFC2C-A5A0-61D6-6AAE-38FA286699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462" y="840260"/>
            <a:ext cx="9848998" cy="7376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568045"/>
      </p:ext>
    </p:extLst>
  </p:cSld>
  <p:clrMapOvr>
    <a:masterClrMapping/>
  </p:clrMapOvr>
  <p:transition spd="med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52CAB-BF04-26C0-4231-D2BF18D7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F1385ADA-A5B7-3827-829B-AC35A248F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CD205A0-ECD9-1E01-A12C-C1CFA520FB9E}"/>
              </a:ext>
            </a:extLst>
          </p:cNvPr>
          <p:cNvSpPr txBox="1"/>
          <p:nvPr/>
        </p:nvSpPr>
        <p:spPr>
          <a:xfrm>
            <a:off x="590632" y="16840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3A6782-EC74-619A-C57E-BC2FC5401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67" y="857473"/>
            <a:ext cx="9723051" cy="720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56484"/>
      </p:ext>
    </p:extLst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08100-B7C8-60DD-C11C-D57389E0E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A51F474-089F-8AE9-D967-9A819D802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FC6FBBA3-C594-25B2-6064-B6ADA6DDAEB7}"/>
              </a:ext>
            </a:extLst>
          </p:cNvPr>
          <p:cNvSpPr txBox="1"/>
          <p:nvPr/>
        </p:nvSpPr>
        <p:spPr>
          <a:xfrm>
            <a:off x="590632" y="16840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Алгоритм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247E91-4AF5-ADC8-6099-A755906595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267" y="857473"/>
            <a:ext cx="9723051" cy="720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11540"/>
      </p:ext>
    </p:extLst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8BC83-87A7-F153-FA38-CFA5594E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3A1C19C-958E-C3B2-9CEF-019F02767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6707E78-6619-AE50-BBBC-2483FBB31BC5}"/>
              </a:ext>
            </a:extLst>
          </p:cNvPr>
          <p:cNvSpPr txBox="1"/>
          <p:nvPr/>
        </p:nvSpPr>
        <p:spPr>
          <a:xfrm>
            <a:off x="689486" y="417836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Flexible-Paxos. </a:t>
            </a:r>
            <a:r>
              <a:rPr lang="ru-RU" dirty="0"/>
              <a:t>Трейд-</a:t>
            </a:r>
            <a:r>
              <a:rPr lang="ru-RU" dirty="0" err="1"/>
              <a:t>оффы</a:t>
            </a:r>
            <a:endParaRPr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32B50DD5-8633-7FBD-A880-51763EE05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619" y="3001693"/>
            <a:ext cx="12797003" cy="266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755567"/>
      </p:ext>
    </p:extLst>
  </p:cSld>
  <p:clrMapOvr>
    <a:masterClrMapping/>
  </p:clrMapOvr>
  <p:transition spd="med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612BE-8E92-6100-7DB6-DDC2150CA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AAA6074-E073-B072-7CA3-88577524F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0B61070-91F8-D82F-75F0-512D3D56A1DC}"/>
              </a:ext>
            </a:extLst>
          </p:cNvPr>
          <p:cNvSpPr txBox="1"/>
          <p:nvPr/>
        </p:nvSpPr>
        <p:spPr>
          <a:xfrm>
            <a:off x="590632" y="34429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Проблематика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298785"/>
      </p:ext>
    </p:extLst>
  </p:cSld>
  <p:clrMapOvr>
    <a:masterClrMapping/>
  </p:clrMapOvr>
  <p:transition spd="med"/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CDC0-E317-86F3-E138-F9CE6AE1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1754BC4-51AC-C2FE-CB45-AB592F5DF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D823210-3EF9-4D93-D94A-7635DF5432C0}"/>
              </a:ext>
            </a:extLst>
          </p:cNvPr>
          <p:cNvSpPr txBox="1"/>
          <p:nvPr/>
        </p:nvSpPr>
        <p:spPr>
          <a:xfrm>
            <a:off x="590632" y="11898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F6D3F4-25C8-C5F0-3066-85A3CCDEA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742" y="932284"/>
            <a:ext cx="12343972" cy="7152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72275"/>
      </p:ext>
    </p:extLst>
  </p:cSld>
  <p:clrMapOvr>
    <a:masterClrMapping/>
  </p:clrMapOvr>
  <p:transition spd="med"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17F2-5D69-5881-D046-0FB25A1B0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856EE5D1-1617-7BCC-9627-88A719754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A578893-962A-D14B-458D-9D7EE4944DFF}"/>
              </a:ext>
            </a:extLst>
          </p:cNvPr>
          <p:cNvSpPr txBox="1"/>
          <p:nvPr/>
        </p:nvSpPr>
        <p:spPr>
          <a:xfrm>
            <a:off x="590632" y="11898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DB7FB6-1918-6573-877E-1B68E512C7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3259" y="1255241"/>
            <a:ext cx="12020034" cy="667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32121"/>
      </p:ext>
    </p:extLst>
  </p:cSld>
  <p:clrMapOvr>
    <a:masterClrMapping/>
  </p:clrMapOvr>
  <p:transition spd="med"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4A3D3-09CA-A0CA-81AA-A1F025E5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BF37A635-9BD3-3C4C-6220-B34A9A873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FD577B6-1D7D-C5E6-3A8D-61D79FEEFF49}"/>
              </a:ext>
            </a:extLst>
          </p:cNvPr>
          <p:cNvSpPr txBox="1"/>
          <p:nvPr/>
        </p:nvSpPr>
        <p:spPr>
          <a:xfrm>
            <a:off x="590632" y="11898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60A793-D631-A301-2171-AFAD6DB3D8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977" y="1072064"/>
            <a:ext cx="12010596" cy="684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093"/>
      </p:ext>
    </p:extLst>
  </p:cSld>
  <p:clrMapOvr>
    <a:masterClrMapping/>
  </p:clrMapOvr>
  <p:transition spd="med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CE41-2EC8-78DD-6BAD-054BBDCAB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58AF71DA-45E6-D565-71A2-639FE542A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B5B7442-0CA2-C297-8435-E0C00F6BC099}"/>
              </a:ext>
            </a:extLst>
          </p:cNvPr>
          <p:cNvSpPr txBox="1"/>
          <p:nvPr/>
        </p:nvSpPr>
        <p:spPr>
          <a:xfrm>
            <a:off x="590632" y="11898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28AC62-20C1-DB22-B140-EED74B165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182" y="1028185"/>
            <a:ext cx="11850398" cy="679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55620"/>
      </p:ext>
    </p:extLst>
  </p:cSld>
  <p:clrMapOvr>
    <a:masterClrMapping/>
  </p:clrMapOvr>
  <p:transition spd="med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D6215-9DAD-1BCB-2277-B318A9F1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7180D210-5633-3D66-9CFB-877D2B9CD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CA0F2EA-D619-E25E-B9A6-0AB96EA6E57C}"/>
              </a:ext>
            </a:extLst>
          </p:cNvPr>
          <p:cNvSpPr txBox="1"/>
          <p:nvPr/>
        </p:nvSpPr>
        <p:spPr>
          <a:xfrm>
            <a:off x="590632" y="118982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Проблематика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DFF0B3-894F-A0F3-0176-88B3055EA6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768" y="1106405"/>
            <a:ext cx="11169705" cy="647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396867"/>
      </p:ext>
    </p:extLst>
  </p:cSld>
  <p:clrMapOvr>
    <a:masterClrMapping/>
  </p:clrMapOvr>
  <p:transition spd="med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5609A-02FA-CF0A-78B1-D0ADEE3E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2EB806F4-ED8C-C0FE-7B70-E0A52EA88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644F8C5-309B-87E4-DF71-5F75B56C7453}"/>
              </a:ext>
            </a:extLst>
          </p:cNvPr>
          <p:cNvSpPr txBox="1"/>
          <p:nvPr/>
        </p:nvSpPr>
        <p:spPr>
          <a:xfrm>
            <a:off x="590632" y="34429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Алгоритм </a:t>
            </a:r>
            <a:r>
              <a:rPr lang="en-US" dirty="0"/>
              <a:t>Fast path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0983802"/>
      </p:ext>
    </p:extLst>
  </p:cSld>
  <p:clrMapOvr>
    <a:masterClrMapping/>
  </p:clrMapOvr>
  <p:transition spd="med"/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30DBE-0EC3-C266-C5FA-DD64DFF3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4C7750B-A6E6-A15D-6FEC-9A8216A72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CD6555D-E756-CD09-5F7B-0AB2D283714D}"/>
              </a:ext>
            </a:extLst>
          </p:cNvPr>
          <p:cNvSpPr txBox="1"/>
          <p:nvPr/>
        </p:nvSpPr>
        <p:spPr>
          <a:xfrm>
            <a:off x="899551" y="131338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Алгоритм </a:t>
            </a:r>
            <a:r>
              <a:rPr lang="en-US" dirty="0"/>
              <a:t>Fast path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58CCA7-B353-6037-CA10-43212AB70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181" y="1004973"/>
            <a:ext cx="10487196" cy="695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22498"/>
      </p:ext>
    </p:extLst>
  </p:cSld>
  <p:clrMapOvr>
    <a:masterClrMapping/>
  </p:clrMapOvr>
  <p:transition spd="med"/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92A8F-61DD-772D-997D-938D4046A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FF904D84-03BD-00FD-D0C5-8E4B4735A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7C769051-54B0-E526-9DC5-B1E762EE4569}"/>
              </a:ext>
            </a:extLst>
          </p:cNvPr>
          <p:cNvSpPr txBox="1"/>
          <p:nvPr/>
        </p:nvSpPr>
        <p:spPr>
          <a:xfrm>
            <a:off x="899551" y="131338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Алгоритм </a:t>
            </a:r>
            <a:r>
              <a:rPr lang="en-US" dirty="0"/>
              <a:t>Fast path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4661E7-5D5E-EBF4-0E23-8FFC66B49D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0" y="854647"/>
            <a:ext cx="10814050" cy="724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61343"/>
      </p:ext>
    </p:extLst>
  </p:cSld>
  <p:clrMapOvr>
    <a:masterClrMapping/>
  </p:clrMapOvr>
  <p:transition spd="med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60765-01D6-5D05-DDAD-689C770BE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41FC78F-BF88-2A8D-DAD2-8BFC6C636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DCDBF6B-D602-7E35-A0F8-6D798B395257}"/>
              </a:ext>
            </a:extLst>
          </p:cNvPr>
          <p:cNvSpPr txBox="1"/>
          <p:nvPr/>
        </p:nvSpPr>
        <p:spPr>
          <a:xfrm>
            <a:off x="899551" y="131338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Алгоритм </a:t>
            </a:r>
            <a:r>
              <a:rPr lang="en-US" dirty="0"/>
              <a:t>Fast path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6F2A46-F8DC-F1AC-5AC5-22E6130E1A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684" y="1119611"/>
            <a:ext cx="9920870" cy="697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17901"/>
      </p:ext>
    </p:extLst>
  </p:cSld>
  <p:clrMapOvr>
    <a:masterClrMapping/>
  </p:clrMapOvr>
  <p:transition spd="med"/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BD7F-D7F4-F566-89BB-1F6C4E63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04A9744C-A347-E028-2C7A-BEEF02DEB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C2F9E98-AD83-FB90-3FDD-3785176111EE}"/>
              </a:ext>
            </a:extLst>
          </p:cNvPr>
          <p:cNvSpPr txBox="1"/>
          <p:nvPr/>
        </p:nvSpPr>
        <p:spPr>
          <a:xfrm>
            <a:off x="590632" y="34429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Алгоритм </a:t>
            </a:r>
            <a:r>
              <a:rPr lang="en-US" dirty="0"/>
              <a:t>Slow path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1911408"/>
      </p:ext>
    </p:extLst>
  </p:cSld>
  <p:clrMapOvr>
    <a:masterClrMapping/>
  </p:clrMapOvr>
  <p:transition spd="med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E1B6-2743-9EC4-3A9B-2C9948560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6757849F-D269-81F5-4296-F234ABF20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D6D0F77-FB06-EF71-0DF2-C7290E629DA8}"/>
              </a:ext>
            </a:extLst>
          </p:cNvPr>
          <p:cNvSpPr txBox="1"/>
          <p:nvPr/>
        </p:nvSpPr>
        <p:spPr>
          <a:xfrm>
            <a:off x="908132" y="1917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Алгоритм </a:t>
            </a:r>
            <a:r>
              <a:rPr lang="en-US" dirty="0"/>
              <a:t>Slow path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56D2A2-3880-150B-537C-0863E4BD8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956397"/>
            <a:ext cx="9486900" cy="708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93352"/>
      </p:ext>
    </p:extLst>
  </p:cSld>
  <p:clrMapOvr>
    <a:masterClrMapping/>
  </p:clrMapOvr>
  <p:transition spd="med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4718-22FC-D590-D2DE-1EF0891B5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DE267F5B-BD67-FADB-B76F-F317048E5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8D198A4D-37F9-AEC8-45D7-2883EF2F1802}"/>
              </a:ext>
            </a:extLst>
          </p:cNvPr>
          <p:cNvSpPr txBox="1"/>
          <p:nvPr/>
        </p:nvSpPr>
        <p:spPr>
          <a:xfrm>
            <a:off x="908132" y="1917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Алгоритм </a:t>
            </a:r>
            <a:r>
              <a:rPr lang="en-US" dirty="0"/>
              <a:t>Slow path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CD03E9-D62E-7DB2-7727-CB9FD98DA7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0" y="1009650"/>
            <a:ext cx="9931400" cy="712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99464"/>
      </p:ext>
    </p:extLst>
  </p:cSld>
  <p:clrMapOvr>
    <a:masterClrMapping/>
  </p:clrMapOvr>
  <p:transition spd="med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709C-9DCE-D3C3-11FE-18F232F7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362DFC1-A15D-286A-F165-01B6DD269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DE6F4288-D7A3-6DE3-C14E-C3D29721E597}"/>
              </a:ext>
            </a:extLst>
          </p:cNvPr>
          <p:cNvSpPr txBox="1"/>
          <p:nvPr/>
        </p:nvSpPr>
        <p:spPr>
          <a:xfrm>
            <a:off x="908132" y="1917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Алгоритм </a:t>
            </a:r>
            <a:r>
              <a:rPr lang="en-US" dirty="0"/>
              <a:t>Slow path</a:t>
            </a:r>
            <a:endParaRPr dirty="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DFAF834-9C0C-FCE2-8F2F-D6C4005F06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600" y="1017743"/>
            <a:ext cx="9271000" cy="702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09"/>
      </p:ext>
    </p:extLst>
  </p:cSld>
  <p:clrMapOvr>
    <a:masterClrMapping/>
  </p:clrMapOvr>
  <p:transition spd="med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D47FA-3F48-83A3-A6A0-FB85D2A0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F47AEAB-5FE2-0BCE-7562-BE7BD9A73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8F920A0-BB54-E0A4-08E1-191BF9AFED59}"/>
              </a:ext>
            </a:extLst>
          </p:cNvPr>
          <p:cNvSpPr txBox="1"/>
          <p:nvPr/>
        </p:nvSpPr>
        <p:spPr>
          <a:xfrm>
            <a:off x="908132" y="1917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en-US" dirty="0"/>
              <a:t>Egalitarian-Paxos (</a:t>
            </a:r>
            <a:r>
              <a:rPr lang="en-US" dirty="0" err="1"/>
              <a:t>EPaxos</a:t>
            </a:r>
            <a:r>
              <a:rPr lang="en-US" dirty="0"/>
              <a:t>). </a:t>
            </a:r>
            <a:r>
              <a:rPr lang="ru-RU" dirty="0"/>
              <a:t>Алгоритм </a:t>
            </a:r>
            <a:r>
              <a:rPr lang="en-US" dirty="0"/>
              <a:t>Slow path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F00BBD7-0FB8-457E-CD61-A32AA4AD5B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525" y="900451"/>
            <a:ext cx="9508932" cy="713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8076"/>
      </p:ext>
    </p:extLst>
  </p:cSld>
  <p:clrMapOvr>
    <a:masterClrMapping/>
  </p:clrMapOvr>
  <p:transition spd="med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D556-0FE2-CE66-ACF9-B2A90042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E7ABB7C5-B2ED-FA0B-664E-6C7E88FCF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F559844-7C69-DCA8-20E1-C0B2684F59A6}"/>
              </a:ext>
            </a:extLst>
          </p:cNvPr>
          <p:cNvSpPr txBox="1"/>
          <p:nvPr/>
        </p:nvSpPr>
        <p:spPr>
          <a:xfrm>
            <a:off x="590632" y="3442949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Сравнение различных разновидностей </a:t>
            </a:r>
            <a:r>
              <a:rPr lang="en-US" dirty="0"/>
              <a:t>Paxos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2641918"/>
      </p:ext>
    </p:extLst>
  </p:cSld>
  <p:clrMapOvr>
    <a:masterClrMapping/>
  </p:clrMapOvr>
  <p:transition spd="med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5E159-D6B0-57AE-C4B9-FB3212EE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Рисунок 6" descr="Рисунок 6">
            <a:extLst>
              <a:ext uri="{FF2B5EF4-FFF2-40B4-BE49-F238E27FC236}">
                <a16:creationId xmlns:a16="http://schemas.microsoft.com/office/drawing/2014/main" id="{31EE5309-B5AD-1D81-4AF7-1DCC59BD5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600" y="7581900"/>
            <a:ext cx="2209800" cy="64770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75A69B0-88B2-2A72-5C5D-F3C90B53D6C7}"/>
              </a:ext>
            </a:extLst>
          </p:cNvPr>
          <p:cNvSpPr txBox="1"/>
          <p:nvPr/>
        </p:nvSpPr>
        <p:spPr>
          <a:xfrm>
            <a:off x="1181264" y="304333"/>
            <a:ext cx="13449136" cy="671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5400"/>
              </a:lnSpc>
              <a:defRPr sz="4300">
                <a:solidFill>
                  <a:srgbClr val="383838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</a:lstStyle>
          <a:p>
            <a:pPr algn="ctr"/>
            <a:r>
              <a:rPr lang="ru-RU" dirty="0"/>
              <a:t>Сравнение различных разновидностей </a:t>
            </a:r>
            <a:r>
              <a:rPr lang="en-US" dirty="0"/>
              <a:t>Paxos</a:t>
            </a:r>
            <a:endParaRPr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934559-7DC4-37D9-DB62-45B6B0687F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84" y="2058687"/>
            <a:ext cx="13941032" cy="487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6131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29229</TotalTime>
  <Words>1065</Words>
  <Application>Microsoft Macintosh PowerPoint</Application>
  <PresentationFormat>Custom</PresentationFormat>
  <Paragraphs>173</Paragraphs>
  <Slides>126</Slides>
  <Notes>108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31" baseType="lpstr">
      <vt:lpstr>Arial</vt:lpstr>
      <vt:lpstr>Calibri</vt:lpstr>
      <vt:lpstr>Calibri Light</vt:lpstr>
      <vt:lpstr>fkGroteskNeue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Alexey Shkel</cp:lastModifiedBy>
  <cp:revision>111</cp:revision>
  <dcterms:modified xsi:type="dcterms:W3CDTF">2026-05-22T06:04:46Z</dcterms:modified>
</cp:coreProperties>
</file>