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0"/>
  </p:notesMasterIdLst>
  <p:sldIdLst>
    <p:sldId id="256" r:id="rId2"/>
    <p:sldId id="257" r:id="rId3"/>
    <p:sldId id="304" r:id="rId4"/>
    <p:sldId id="308" r:id="rId5"/>
    <p:sldId id="310" r:id="rId6"/>
    <p:sldId id="311" r:id="rId7"/>
    <p:sldId id="323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5" r:id="rId17"/>
    <p:sldId id="336" r:id="rId18"/>
    <p:sldId id="343" r:id="rId19"/>
    <p:sldId id="337" r:id="rId20"/>
    <p:sldId id="338" r:id="rId21"/>
    <p:sldId id="339" r:id="rId22"/>
    <p:sldId id="340" r:id="rId23"/>
    <p:sldId id="341" r:id="rId24"/>
    <p:sldId id="342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362" r:id="rId44"/>
    <p:sldId id="363" r:id="rId45"/>
    <p:sldId id="364" r:id="rId46"/>
    <p:sldId id="365" r:id="rId47"/>
    <p:sldId id="366" r:id="rId48"/>
    <p:sldId id="367" r:id="rId49"/>
    <p:sldId id="368" r:id="rId50"/>
    <p:sldId id="369" r:id="rId51"/>
    <p:sldId id="370" r:id="rId52"/>
    <p:sldId id="371" r:id="rId53"/>
    <p:sldId id="372" r:id="rId54"/>
    <p:sldId id="374" r:id="rId55"/>
    <p:sldId id="373" r:id="rId56"/>
    <p:sldId id="377" r:id="rId57"/>
    <p:sldId id="388" r:id="rId58"/>
    <p:sldId id="389" r:id="rId59"/>
    <p:sldId id="390" r:id="rId60"/>
    <p:sldId id="391" r:id="rId61"/>
    <p:sldId id="392" r:id="rId62"/>
    <p:sldId id="393" r:id="rId63"/>
    <p:sldId id="394" r:id="rId64"/>
    <p:sldId id="395" r:id="rId65"/>
    <p:sldId id="396" r:id="rId66"/>
    <p:sldId id="397" r:id="rId67"/>
    <p:sldId id="375" r:id="rId68"/>
    <p:sldId id="376" r:id="rId69"/>
    <p:sldId id="378" r:id="rId70"/>
    <p:sldId id="379" r:id="rId71"/>
    <p:sldId id="380" r:id="rId72"/>
    <p:sldId id="381" r:id="rId73"/>
    <p:sldId id="382" r:id="rId74"/>
    <p:sldId id="383" r:id="rId75"/>
    <p:sldId id="384" r:id="rId76"/>
    <p:sldId id="385" r:id="rId77"/>
    <p:sldId id="386" r:id="rId78"/>
    <p:sldId id="387" r:id="rId79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6"/>
    <p:restoredTop sz="94658"/>
  </p:normalViewPr>
  <p:slideViewPr>
    <p:cSldViewPr snapToGrid="0">
      <p:cViewPr varScale="1">
        <p:scale>
          <a:sx n="100" d="100"/>
          <a:sy n="100" d="100"/>
        </p:scale>
        <p:origin x="3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8" name="Shape 1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498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E8ACB-86B9-1557-2E01-38A7D8C32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7B136C-3B90-29F6-FFF0-25139541F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7A60F-AF6F-B868-6628-12BE3BDF5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56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380B7-B23B-4120-0D0F-8B3ACEB6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4144E-7B0B-4696-E4EA-BAF3B3266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5F051-807E-2141-7701-8C29CACBF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99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82E53-0F09-980A-DC45-B6431B16C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91F01-99B1-7440-808D-382B04492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0EF97-978A-04DD-91FA-6FFB35F24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41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5FE3E-D0AD-8E91-F240-0E0D88318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2DC4CB-BC1C-3CA0-5BCE-E9CA28DDB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79B5B-A3E3-AFC6-15AF-B823C3939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466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489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629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731519" y="110489"/>
            <a:ext cx="13167362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731519" y="1920239"/>
            <a:ext cx="13167362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 txBox="1"/>
          <p:nvPr/>
        </p:nvSpPr>
        <p:spPr>
          <a:xfrm>
            <a:off x="966072" y="2400181"/>
            <a:ext cx="7211856" cy="136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t>Проектирование Распределенных Систем</a:t>
            </a:r>
          </a:p>
        </p:txBody>
      </p:sp>
      <p:sp>
        <p:nvSpPr>
          <p:cNvPr id="121" name="Text 1"/>
          <p:cNvSpPr txBox="1"/>
          <p:nvPr/>
        </p:nvSpPr>
        <p:spPr>
          <a:xfrm>
            <a:off x="2111311" y="4449247"/>
            <a:ext cx="3611566" cy="834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3400"/>
              </a:lnSpc>
              <a:defRPr sz="2100" b="1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dirty="0" err="1"/>
              <a:t>Двадцать</a:t>
            </a:r>
            <a:r>
              <a:rPr dirty="0"/>
              <a:t> </a:t>
            </a:r>
            <a:r>
              <a:rPr lang="ru-RU" dirty="0"/>
              <a:t>восьмой </a:t>
            </a:r>
            <a:r>
              <a:rPr dirty="0" err="1"/>
              <a:t>семинар</a:t>
            </a:r>
            <a:r>
              <a:rPr dirty="0"/>
              <a:t>:</a:t>
            </a:r>
          </a:p>
          <a:p>
            <a:pPr algn="ctr">
              <a:lnSpc>
                <a:spcPts val="3400"/>
              </a:lnSpc>
              <a:defRPr sz="2100" b="1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Paxos. </a:t>
            </a:r>
            <a:r>
              <a:rPr lang="ru-RU" dirty="0"/>
              <a:t>Сценарии отказов</a:t>
            </a:r>
            <a:endParaRPr dirty="0"/>
          </a:p>
        </p:txBody>
      </p:sp>
      <p:sp>
        <p:nvSpPr>
          <p:cNvPr id="122" name="Text 2"/>
          <p:cNvSpPr txBox="1"/>
          <p:nvPr/>
        </p:nvSpPr>
        <p:spPr>
          <a:xfrm>
            <a:off x="-1" y="7667907"/>
            <a:ext cx="2392721" cy="40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400"/>
              </a:lnSpc>
              <a:defRPr sz="21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t>Алексей Шкель</a:t>
            </a:r>
          </a:p>
        </p:txBody>
      </p:sp>
      <p:pic>
        <p:nvPicPr>
          <p:cNvPr id="123" name="Рисунок 6" descr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PAXOS Consensus Algorithm - GeeksforGeeks">
            <a:extLst>
              <a:ext uri="{FF2B5EF4-FFF2-40B4-BE49-F238E27FC236}">
                <a16:creationId xmlns:a16="http://schemas.microsoft.com/office/drawing/2014/main" id="{1B428EE5-3B0A-A140-D646-3BDEA99C4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3900" y="2247900"/>
            <a:ext cx="7416114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 txBox="1"/>
          <p:nvPr/>
        </p:nvSpPr>
        <p:spPr>
          <a:xfrm>
            <a:off x="737830" y="751403"/>
            <a:ext cx="3408183" cy="648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r>
              <a:t>План семинара</a:t>
            </a:r>
          </a:p>
        </p:txBody>
      </p:sp>
      <p:pic>
        <p:nvPicPr>
          <p:cNvPr id="12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86" y="1410176"/>
            <a:ext cx="6472001" cy="228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Image 2" descr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86" y="3037521"/>
            <a:ext cx="6472001" cy="22861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Text 2"/>
          <p:cNvSpPr txBox="1"/>
          <p:nvPr/>
        </p:nvSpPr>
        <p:spPr>
          <a:xfrm>
            <a:off x="259425" y="1742804"/>
            <a:ext cx="10040275" cy="5601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Повторение: разогрев и вводная про </a:t>
            </a:r>
            <a:r>
              <a:rPr lang="en-US" sz="2600" dirty="0"/>
              <a:t>Paxos</a:t>
            </a:r>
            <a:endParaRPr lang="ru-RU" sz="26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Вспоминаем алгоритм </a:t>
            </a:r>
            <a:r>
              <a:rPr lang="en-US" sz="2600" dirty="0"/>
              <a:t>Paxos: </a:t>
            </a:r>
            <a:r>
              <a:rPr lang="ru-RU" sz="2600" dirty="0"/>
              <a:t>роли, действие каждой из ролей,</a:t>
            </a:r>
            <a:br>
              <a:rPr lang="ru-RU" sz="2600" dirty="0"/>
            </a:br>
            <a:r>
              <a:rPr lang="ru-RU" sz="2600" dirty="0"/>
              <a:t>этапы в алгоритме, кворумы в </a:t>
            </a:r>
            <a:r>
              <a:rPr lang="en-US" sz="2600" dirty="0" err="1"/>
              <a:t>paxos</a:t>
            </a:r>
            <a:endParaRPr lang="en-US" sz="26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Визуализация и анализ базового сценария 0</a:t>
            </a:r>
            <a:r>
              <a:rPr lang="en-US" sz="2600" dirty="0"/>
              <a:t>:</a:t>
            </a:r>
            <a:r>
              <a:rPr lang="ru-RU" sz="2600" dirty="0"/>
              <a:t> </a:t>
            </a:r>
            <a:r>
              <a:rPr lang="en-US" sz="2600" dirty="0"/>
              <a:t>Paxos </a:t>
            </a:r>
            <a:r>
              <a:rPr lang="ru-RU" sz="2600" dirty="0"/>
              <a:t>с одним </a:t>
            </a:r>
            <a:r>
              <a:rPr lang="en-US" sz="2600" dirty="0"/>
              <a:t>Proposer-</a:t>
            </a:r>
            <a:r>
              <a:rPr lang="ru-RU" sz="2600" dirty="0"/>
              <a:t>ом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Сценарий</a:t>
            </a:r>
            <a:r>
              <a:rPr lang="en-US" sz="2600" dirty="0"/>
              <a:t> </a:t>
            </a:r>
            <a:r>
              <a:rPr lang="ru-RU" sz="2600" dirty="0"/>
              <a:t>1: </a:t>
            </a:r>
            <a:r>
              <a:rPr lang="en-US" sz="2600" dirty="0"/>
              <a:t>Paxos </a:t>
            </a:r>
            <a:r>
              <a:rPr lang="ru-RU" sz="2600" dirty="0"/>
              <a:t>с несколькими </a:t>
            </a:r>
            <a:r>
              <a:rPr lang="en-US" sz="2600" dirty="0"/>
              <a:t>Proposer-</a:t>
            </a:r>
            <a:r>
              <a:rPr lang="ru-RU" sz="2600" dirty="0" err="1"/>
              <a:t>ами</a:t>
            </a:r>
            <a:r>
              <a:rPr lang="ru-RU" sz="2600" dirty="0"/>
              <a:t>: падение первого </a:t>
            </a:r>
            <a:r>
              <a:rPr lang="en-US" sz="2600" dirty="0"/>
              <a:t>proposer-</a:t>
            </a:r>
            <a:r>
              <a:rPr lang="ru-RU" sz="2600" dirty="0"/>
              <a:t>а и подхват его значения другим </a:t>
            </a:r>
            <a:r>
              <a:rPr lang="en-US" sz="2600" dirty="0"/>
              <a:t>proposer-</a:t>
            </a:r>
            <a:r>
              <a:rPr lang="ru-RU" sz="2600" dirty="0"/>
              <a:t>ом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Сценарий 2: </a:t>
            </a:r>
            <a:r>
              <a:rPr lang="en-US" sz="2600" dirty="0"/>
              <a:t>Paxos </a:t>
            </a:r>
            <a:r>
              <a:rPr lang="ru-RU" sz="2600" dirty="0"/>
              <a:t>с несколькими </a:t>
            </a:r>
            <a:r>
              <a:rPr lang="en-US" sz="2600" dirty="0"/>
              <a:t>Proposer-</a:t>
            </a:r>
            <a:r>
              <a:rPr lang="ru-RU" sz="2600" dirty="0" err="1"/>
              <a:t>ами</a:t>
            </a:r>
            <a:r>
              <a:rPr lang="ru-RU" sz="2600" dirty="0"/>
              <a:t>: падение первого </a:t>
            </a:r>
            <a:r>
              <a:rPr lang="en-US" sz="2600" dirty="0"/>
              <a:t>proposer-</a:t>
            </a:r>
            <a:r>
              <a:rPr lang="ru-RU" sz="2600" dirty="0"/>
              <a:t>а, но фиксация нового значения другим </a:t>
            </a:r>
            <a:r>
              <a:rPr lang="ru-RU" sz="2600" dirty="0" err="1"/>
              <a:t>p</a:t>
            </a:r>
            <a:r>
              <a:rPr lang="en-US" sz="2600" dirty="0" err="1"/>
              <a:t>roposer</a:t>
            </a:r>
            <a:r>
              <a:rPr lang="ru-RU" sz="2600" dirty="0"/>
              <a:t>-ом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Сценарий 3: </a:t>
            </a:r>
            <a:r>
              <a:rPr lang="en-US" sz="2600" dirty="0"/>
              <a:t>Paxos</a:t>
            </a:r>
            <a:r>
              <a:rPr lang="ru-RU" sz="2600" dirty="0"/>
              <a:t> с несколькими </a:t>
            </a:r>
            <a:r>
              <a:rPr lang="en-US" sz="2600" dirty="0"/>
              <a:t>Proposer-</a:t>
            </a:r>
            <a:r>
              <a:rPr lang="ru-RU" sz="2600" dirty="0" err="1"/>
              <a:t>ами</a:t>
            </a:r>
            <a:r>
              <a:rPr lang="ru-RU" sz="2600" dirty="0"/>
              <a:t>: падение </a:t>
            </a:r>
            <a:r>
              <a:rPr lang="en-US" sz="2600" dirty="0"/>
              <a:t>proposer-</a:t>
            </a:r>
            <a:r>
              <a:rPr lang="ru-RU" sz="2600" dirty="0"/>
              <a:t>а и </a:t>
            </a:r>
            <a:r>
              <a:rPr lang="en-US" sz="2600" dirty="0"/>
              <a:t>acceptor-</a:t>
            </a:r>
            <a:r>
              <a:rPr lang="ru-RU" sz="2600" dirty="0"/>
              <a:t>а, который принял его значение</a:t>
            </a:r>
            <a:endParaRPr lang="en-US" sz="26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Сценарий 4</a:t>
            </a:r>
            <a:r>
              <a:rPr lang="en-US" sz="2600" dirty="0"/>
              <a:t>: Paxos</a:t>
            </a:r>
            <a:r>
              <a:rPr lang="ru-RU" sz="2600" dirty="0"/>
              <a:t> и дуэль двух </a:t>
            </a:r>
            <a:r>
              <a:rPr lang="en-US" sz="2600" dirty="0"/>
              <a:t>proposer-</a:t>
            </a:r>
            <a:r>
              <a:rPr lang="ru-RU" sz="2600" dirty="0" err="1"/>
              <a:t>ов</a:t>
            </a:r>
            <a:r>
              <a:rPr lang="ru-RU" sz="2600" dirty="0"/>
              <a:t>, </a:t>
            </a:r>
            <a:r>
              <a:rPr lang="en-US" sz="2600" dirty="0" err="1"/>
              <a:t>livelock</a:t>
            </a:r>
            <a:endParaRPr lang="ru-RU" sz="26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Выводы и предложения разновидностей </a:t>
            </a:r>
            <a:r>
              <a:rPr lang="en-US" sz="2600" dirty="0"/>
              <a:t>Paxos</a:t>
            </a:r>
            <a:endParaRPr lang="ru-RU" sz="26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endParaRPr lang="en-US" sz="2600" dirty="0"/>
          </a:p>
        </p:txBody>
      </p:sp>
      <p:pic>
        <p:nvPicPr>
          <p:cNvPr id="130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693" y="718644"/>
            <a:ext cx="4138419" cy="620762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257" y="7432129"/>
            <a:ext cx="4025901" cy="723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8EF7C-CBC9-44CA-FE81-30D80A745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91E73519-2CD6-57AC-497A-7CD972837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4F8BB6CE-4014-B5EB-1EBD-A087E7CBF6B5}"/>
              </a:ext>
            </a:extLst>
          </p:cNvPr>
          <p:cNvSpPr txBox="1"/>
          <p:nvPr/>
        </p:nvSpPr>
        <p:spPr>
          <a:xfrm>
            <a:off x="736764" y="543405"/>
            <a:ext cx="13449136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rPr lang="ru-RU" dirty="0"/>
              <a:t>Повторение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80B519-7EC5-87CF-0744-7935F8526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150" y="1511299"/>
            <a:ext cx="6559550" cy="646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2998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94623-919E-EE6F-644C-B6FE4D7B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B67D7F42-2503-7165-90BE-ECC178661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DDC8A8C0-103E-F00C-6877-E841C13E9468}"/>
              </a:ext>
            </a:extLst>
          </p:cNvPr>
          <p:cNvSpPr txBox="1"/>
          <p:nvPr/>
        </p:nvSpPr>
        <p:spPr>
          <a:xfrm>
            <a:off x="736764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rPr lang="ru-RU" dirty="0"/>
              <a:t>Ситуация</a:t>
            </a:r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C8C5E8-6E76-ECBE-FF7E-840399444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1219199"/>
            <a:ext cx="6997700" cy="688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4149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9110E-FF70-3AFA-F53D-B460890A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EAC879B-67E3-7FD2-EBC0-D75C12796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4914C6AE-0DAB-B44E-EF29-ED8D20649926}"/>
              </a:ext>
            </a:extLst>
          </p:cNvPr>
          <p:cNvSpPr txBox="1"/>
          <p:nvPr/>
        </p:nvSpPr>
        <p:spPr>
          <a:xfrm>
            <a:off x="736764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rPr lang="ru-RU" dirty="0"/>
              <a:t>Ситуация</a:t>
            </a:r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28DC8F-D159-74BB-38FF-0FBD46FC2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225579"/>
            <a:ext cx="6997700" cy="6885437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D8640E9E-8E56-794A-67A5-5E5CC9FA5574}"/>
              </a:ext>
            </a:extLst>
          </p:cNvPr>
          <p:cNvSpPr txBox="1"/>
          <p:nvPr/>
        </p:nvSpPr>
        <p:spPr>
          <a:xfrm>
            <a:off x="500725" y="2069227"/>
            <a:ext cx="6611275" cy="3323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Необходимо придумать способ такой, чтобы: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все, кто дожил до вечера,</a:t>
            </a:r>
            <a:br>
              <a:rPr lang="ru-RU" sz="2400" dirty="0">
                <a:sym typeface="fkGroteskNeue"/>
              </a:rPr>
            </a:br>
            <a:r>
              <a:rPr lang="ru-RU" sz="2400" dirty="0">
                <a:sym typeface="fkGroteskNeue"/>
              </a:rPr>
              <a:t>узнали ОДНО и то же место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это место было реально кем-то предложено</a:t>
            </a:r>
            <a:br>
              <a:rPr lang="ru-RU" sz="2400" dirty="0">
                <a:sym typeface="fkGroteskNeue"/>
              </a:rPr>
            </a:br>
            <a:r>
              <a:rPr lang="ru-RU" sz="2400" dirty="0">
                <a:sym typeface="fkGroteskNeue"/>
              </a:rPr>
              <a:t>(а не "встретимся на луне")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рано или поздно решение все-таки было принялось</a:t>
            </a:r>
            <a:br>
              <a:rPr lang="ru-RU" sz="2400" dirty="0">
                <a:sym typeface="fkGroteskNeue"/>
              </a:rPr>
            </a:br>
            <a:endParaRPr lang="ru-RU" sz="2400" dirty="0">
              <a:sym typeface="fkGroteskNeue"/>
            </a:endParaRP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endParaRPr lang="ru-RU" sz="2400" dirty="0">
              <a:sym typeface="fkGroteskNeue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0CA3F7-2709-4EDD-04B9-CC844039C1B8}"/>
              </a:ext>
            </a:extLst>
          </p:cNvPr>
          <p:cNvSpPr txBox="1"/>
          <p:nvPr/>
        </p:nvSpPr>
        <p:spPr>
          <a:xfrm>
            <a:off x="500724" y="5718413"/>
            <a:ext cx="661127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b="1" u="sng" dirty="0">
                <a:sym typeface="fkGroteskNeue"/>
              </a:rPr>
              <a:t>Это и будет означать достижение консенсуса</a:t>
            </a:r>
          </a:p>
        </p:txBody>
      </p:sp>
    </p:spTree>
    <p:extLst>
      <p:ext uri="{BB962C8B-B14F-4D97-AF65-F5344CB8AC3E}">
        <p14:creationId xmlns:p14="http://schemas.microsoft.com/office/powerpoint/2010/main" val="85603252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8C73F-0A89-6A15-AA77-8E55EA101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AABA981C-CE8F-8C07-61FB-6F87557E5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74EFA2AC-5FE5-8F2F-C766-A33C172B2992}"/>
              </a:ext>
            </a:extLst>
          </p:cNvPr>
          <p:cNvSpPr txBox="1"/>
          <p:nvPr/>
        </p:nvSpPr>
        <p:spPr>
          <a:xfrm>
            <a:off x="736764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rPr lang="ru-RU" dirty="0"/>
              <a:t>Свойства алгоритмов достижения консенсуса</a:t>
            </a:r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B9BA32-6510-E2CD-FE78-42A04C482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025" y="1574800"/>
            <a:ext cx="6541526" cy="6436581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4FE7258D-711B-DF6B-B03B-2BC1B943B8FC}"/>
              </a:ext>
            </a:extLst>
          </p:cNvPr>
          <p:cNvSpPr txBox="1"/>
          <p:nvPr/>
        </p:nvSpPr>
        <p:spPr>
          <a:xfrm>
            <a:off x="488025" y="2452806"/>
            <a:ext cx="6611275" cy="3754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Свойства:</a:t>
            </a:r>
          </a:p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1. </a:t>
            </a:r>
            <a:r>
              <a:rPr lang="ru-RU" sz="2400" u="sng" dirty="0">
                <a:sym typeface="fkGroteskNeue"/>
              </a:rPr>
              <a:t>Согласованность (</a:t>
            </a:r>
            <a:r>
              <a:rPr lang="en-US" sz="2400" u="sng" dirty="0">
                <a:sym typeface="fkGroteskNeue"/>
              </a:rPr>
              <a:t>Agreement)</a:t>
            </a:r>
            <a:r>
              <a:rPr lang="ru-RU" sz="2400" b="1" dirty="0">
                <a:sym typeface="fkGroteskNeue"/>
              </a:rPr>
              <a:t> </a:t>
            </a:r>
            <a:r>
              <a:rPr lang="en-US" sz="2400" dirty="0">
                <a:sym typeface="fkGroteskNeue"/>
              </a:rPr>
              <a:t>— </a:t>
            </a:r>
            <a:r>
              <a:rPr lang="ru-RU" sz="2400" dirty="0">
                <a:sym typeface="fkGroteskNeue"/>
              </a:rPr>
              <a:t>все корректные процессы решают одно и то же значение.</a:t>
            </a:r>
            <a:br>
              <a:rPr lang="ru-RU" sz="2400" dirty="0">
                <a:sym typeface="fkGroteskNeue"/>
              </a:rPr>
            </a:br>
            <a:endParaRPr lang="ru-RU" sz="2400" dirty="0">
              <a:sym typeface="fkGroteskNeue"/>
            </a:endParaRPr>
          </a:p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2. </a:t>
            </a:r>
            <a:r>
              <a:rPr lang="ru-RU" sz="2400" u="sng" dirty="0">
                <a:sym typeface="fkGroteskNeue"/>
              </a:rPr>
              <a:t>Обоснованность (</a:t>
            </a:r>
            <a:r>
              <a:rPr lang="en-US" sz="2400" u="sng" dirty="0">
                <a:sym typeface="fkGroteskNeue"/>
              </a:rPr>
              <a:t>Validity)</a:t>
            </a:r>
            <a:r>
              <a:rPr lang="en-US" sz="2400" b="1" dirty="0">
                <a:sym typeface="fkGroteskNeue"/>
              </a:rPr>
              <a:t> </a:t>
            </a:r>
            <a:r>
              <a:rPr lang="en-US" sz="2400" dirty="0">
                <a:sym typeface="fkGroteskNeue"/>
              </a:rPr>
              <a:t>— </a:t>
            </a:r>
            <a:r>
              <a:rPr lang="ru-RU" sz="2400" dirty="0">
                <a:sym typeface="fkGroteskNeue"/>
              </a:rPr>
              <a:t>выбранное значение должно быть кем-то реально предложено.</a:t>
            </a:r>
            <a:br>
              <a:rPr lang="ru-RU" sz="2400" dirty="0">
                <a:sym typeface="fkGroteskNeue"/>
              </a:rPr>
            </a:br>
            <a:endParaRPr lang="ru-RU" sz="2400" dirty="0">
              <a:sym typeface="fkGroteskNeue"/>
            </a:endParaRPr>
          </a:p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3. </a:t>
            </a:r>
            <a:r>
              <a:rPr lang="ru-RU" sz="2400" u="sng" dirty="0" err="1">
                <a:sym typeface="fkGroteskNeue"/>
              </a:rPr>
              <a:t>Завершаемость</a:t>
            </a:r>
            <a:r>
              <a:rPr lang="ru-RU" sz="2400" u="sng" dirty="0">
                <a:sym typeface="fkGroteskNeue"/>
              </a:rPr>
              <a:t> (</a:t>
            </a:r>
            <a:r>
              <a:rPr lang="en-US" sz="2400" u="sng" dirty="0">
                <a:sym typeface="fkGroteskNeue"/>
              </a:rPr>
              <a:t>Termination)</a:t>
            </a:r>
            <a:r>
              <a:rPr lang="en-US" sz="2400" b="1" dirty="0">
                <a:sym typeface="fkGroteskNeue"/>
              </a:rPr>
              <a:t> </a:t>
            </a:r>
            <a:r>
              <a:rPr lang="en-US" sz="2400" dirty="0">
                <a:sym typeface="fkGroteskNeue"/>
              </a:rPr>
              <a:t>— </a:t>
            </a:r>
            <a:r>
              <a:rPr lang="ru-RU" sz="2400" dirty="0">
                <a:sym typeface="fkGroteskNeue"/>
              </a:rPr>
              <a:t>все корректные процессы рано или поздно принимают решение.</a:t>
            </a:r>
            <a:endParaRPr lang="ru-RU" sz="2800" dirty="0">
              <a:sym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4223432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A7078-C0B6-E047-6FAC-86D482FE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EE1FBDFD-4750-D420-7D3F-9B5AE5435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959D6EA1-957E-8D5C-8405-4A960044AFB2}"/>
              </a:ext>
            </a:extLst>
          </p:cNvPr>
          <p:cNvSpPr txBox="1"/>
          <p:nvPr/>
        </p:nvSpPr>
        <p:spPr>
          <a:xfrm>
            <a:off x="736764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Роли в </a:t>
            </a:r>
            <a:r>
              <a:rPr lang="en-US" dirty="0"/>
              <a:t>Paxos</a:t>
            </a:r>
            <a:endParaRPr lang="ru-RU" dirty="0"/>
          </a:p>
          <a:p>
            <a:endParaRPr dirty="0"/>
          </a:p>
        </p:txBody>
      </p:sp>
      <p:pic>
        <p:nvPicPr>
          <p:cNvPr id="3" name="Picture 2" descr="A close-up of several rectangular signs&#10;&#10;AI-generated content may be incorrect.">
            <a:extLst>
              <a:ext uri="{FF2B5EF4-FFF2-40B4-BE49-F238E27FC236}">
                <a16:creationId xmlns:a16="http://schemas.microsoft.com/office/drawing/2014/main" id="{8A3B6909-B8C0-4BEF-FC8C-C5457958F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92" y="3099194"/>
            <a:ext cx="12704016" cy="496331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20BFCE3-463B-E98E-61D4-A532F093A835}"/>
              </a:ext>
            </a:extLst>
          </p:cNvPr>
          <p:cNvSpPr txBox="1"/>
          <p:nvPr/>
        </p:nvSpPr>
        <p:spPr>
          <a:xfrm>
            <a:off x="444500" y="1225579"/>
            <a:ext cx="13449136" cy="2003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2800" dirty="0"/>
              <a:t>ВАЖНО: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ru-RU" sz="2800" b="1" u="sng" dirty="0"/>
              <a:t>Каждая нода может принимать одни ИЛИ БОЛЕЕ ролей одновременно</a:t>
            </a:r>
          </a:p>
          <a:p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424468579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D789A-B073-6FCD-0893-4068C6D9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D53131F-EA59-3506-D54C-7A328C43F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7D7A7766-E110-EC04-3892-57CBBD72EFBF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Этапы в </a:t>
            </a:r>
            <a:r>
              <a:rPr lang="en-US" dirty="0"/>
              <a:t>Paxos</a:t>
            </a:r>
            <a:endParaRPr lang="ru-RU" dirty="0"/>
          </a:p>
          <a:p>
            <a:endParaRPr dirty="0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F43E40F6-C616-0743-BCBB-287FB5A86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057" y="1721968"/>
            <a:ext cx="10958286" cy="631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04483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123A5-EB6A-9BC6-D30E-B93D38F0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7953FDDA-1359-64D9-0A49-94781FB39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1ADEECA4-A513-4834-62FD-99FA18F773B3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</a:t>
            </a:r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D8016F-2DD6-1D59-D3E0-778A1F1EF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05" y="4223160"/>
            <a:ext cx="12944929" cy="3868809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C6A1D79A-4991-DE52-5B63-28F31483AE06}"/>
              </a:ext>
            </a:extLst>
          </p:cNvPr>
          <p:cNvSpPr txBox="1"/>
          <p:nvPr/>
        </p:nvSpPr>
        <p:spPr>
          <a:xfrm>
            <a:off x="2273299" y="1907753"/>
            <a:ext cx="9261204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Prepare(n)            — proposer → acceptors    (</a:t>
            </a:r>
            <a:r>
              <a:rPr lang="ru-RU" sz="2800" dirty="0">
                <a:sym typeface="fkGroteskNeue"/>
              </a:rPr>
              <a:t>фаза 1а)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Promise(n, </a:t>
            </a:r>
            <a:r>
              <a:rPr lang="en-US" sz="2800" dirty="0" err="1">
                <a:sym typeface="fkGroteskNeue"/>
              </a:rPr>
              <a:t>v_a</a:t>
            </a:r>
            <a:r>
              <a:rPr lang="en-US" sz="2800" dirty="0">
                <a:sym typeface="fkGroteskNeue"/>
              </a:rPr>
              <a:t>)  — acceptor → proposer     (</a:t>
            </a:r>
            <a:r>
              <a:rPr lang="ru-RU" sz="2800" dirty="0">
                <a:sym typeface="fkGroteskNeue"/>
              </a:rPr>
              <a:t>фаза 1б)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Accept!(n, v)         — proposer → acceptors    (</a:t>
            </a:r>
            <a:r>
              <a:rPr lang="ru-RU" sz="2800" dirty="0">
                <a:sym typeface="fkGroteskNeue"/>
              </a:rPr>
              <a:t>фаза 2а)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Accepted(n, v)        — acceptor → learners     (</a:t>
            </a:r>
            <a:r>
              <a:rPr lang="ru-RU" sz="2800" dirty="0">
                <a:sym typeface="fkGroteskNeue"/>
              </a:rPr>
              <a:t>фаза 2б)</a:t>
            </a:r>
          </a:p>
        </p:txBody>
      </p:sp>
    </p:spTree>
    <p:extLst>
      <p:ext uri="{BB962C8B-B14F-4D97-AF65-F5344CB8AC3E}">
        <p14:creationId xmlns:p14="http://schemas.microsoft.com/office/powerpoint/2010/main" val="98518974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4F52C-6674-3339-3A30-189FF18B4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5CB7750-6D82-14EB-C90B-F69547113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B5E57DFB-A5D8-8D7A-F78C-CB0C9679DA24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алгоритма. </a:t>
            </a:r>
            <a:r>
              <a:rPr lang="en-US" dirty="0"/>
              <a:t>Proposer</a:t>
            </a:r>
            <a:r>
              <a:rPr lang="ru-RU" dirty="0"/>
              <a:t> </a:t>
            </a:r>
            <a:r>
              <a:rPr lang="en-US" dirty="0"/>
              <a:t>stage 1</a:t>
            </a:r>
            <a:endParaRPr lang="ru-RU" dirty="0"/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043C42-FD36-A54C-5804-68CDFA5FE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03" y="3909652"/>
            <a:ext cx="12944929" cy="3868809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F56671D6-43DA-F90C-5620-267BC1D2F935}"/>
              </a:ext>
            </a:extLst>
          </p:cNvPr>
          <p:cNvSpPr txBox="1"/>
          <p:nvPr/>
        </p:nvSpPr>
        <p:spPr>
          <a:xfrm>
            <a:off x="2273299" y="1907753"/>
            <a:ext cx="9261204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Что делает </a:t>
            </a:r>
            <a:r>
              <a:rPr lang="en-US" sz="2800" dirty="0">
                <a:sym typeface="fkGroteskNeue"/>
              </a:rPr>
              <a:t>proposer?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Выбирает свежий номер </a:t>
            </a:r>
            <a:r>
              <a:rPr lang="en-US" sz="2800" dirty="0">
                <a:sym typeface="fkGroteskNeue"/>
              </a:rPr>
              <a:t>n </a:t>
            </a:r>
            <a:r>
              <a:rPr lang="ru-RU" sz="2800" dirty="0">
                <a:sym typeface="fkGroteskNeue"/>
              </a:rPr>
              <a:t>больше всего, что он раньше отправлял, и шлёт </a:t>
            </a:r>
            <a:r>
              <a:rPr lang="ru-RU" sz="2800" b="1" dirty="0">
                <a:sym typeface="fkGroteskNeue"/>
              </a:rPr>
              <a:t>`</a:t>
            </a:r>
            <a:r>
              <a:rPr lang="en-US" sz="2800" dirty="0">
                <a:sym typeface="fkGroteskNeue"/>
              </a:rPr>
              <a:t>Prepare(n)</a:t>
            </a:r>
            <a:r>
              <a:rPr lang="en-US" sz="2800" b="1" dirty="0">
                <a:sym typeface="fkGroteskNeue"/>
              </a:rPr>
              <a:t>` </a:t>
            </a:r>
            <a:r>
              <a:rPr lang="ru-RU" sz="2800" dirty="0">
                <a:sym typeface="fkGroteskNeue"/>
              </a:rPr>
              <a:t>большинству акцепторов.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endParaRPr lang="ru-RU" sz="2800" dirty="0">
              <a:sym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50683819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797F7-E900-0611-1F3F-126CBAF72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F644EDEE-3A7C-FBC1-A576-60AE01995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7F62357C-4449-8866-8275-55DC49635072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алгоритма. </a:t>
            </a:r>
            <a:r>
              <a:rPr lang="en-US" dirty="0"/>
              <a:t>Acceptor stage 1</a:t>
            </a:r>
            <a:endParaRPr lang="ru-RU" dirty="0"/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E382E6-00E5-99A1-E20F-42798B3D7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652" y="4706432"/>
            <a:ext cx="10704831" cy="3199318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E73B0803-8E8B-764C-40C8-8E47357600BB}"/>
              </a:ext>
            </a:extLst>
          </p:cNvPr>
          <p:cNvSpPr txBox="1"/>
          <p:nvPr/>
        </p:nvSpPr>
        <p:spPr>
          <a:xfrm>
            <a:off x="117927" y="1638212"/>
            <a:ext cx="9261204" cy="3877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Что делает акцептор, получив `</a:t>
            </a:r>
            <a:r>
              <a:rPr lang="en-US" sz="2800" dirty="0">
                <a:sym typeface="fkGroteskNeue"/>
              </a:rPr>
              <a:t>Prepare(n)`?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Смотрит на свою память — а в памяти у него две вещи:</a:t>
            </a:r>
            <a:endParaRPr lang="en-US" sz="2800" dirty="0">
              <a:sym typeface="fkGroteskNeue"/>
            </a:endParaRPr>
          </a:p>
          <a:p>
            <a:pPr marL="514350" lvl="2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максимальный номер, на который он уже обещал (</a:t>
            </a:r>
            <a:r>
              <a:rPr lang="ru-RU" sz="2800" b="1" dirty="0">
                <a:sym typeface="fkGroteskNeue"/>
              </a:rPr>
              <a:t>`</a:t>
            </a:r>
            <a:r>
              <a:rPr lang="en-US" sz="2800" dirty="0" err="1">
                <a:sym typeface="fkGroteskNeue"/>
              </a:rPr>
              <a:t>n_promised</a:t>
            </a:r>
            <a:r>
              <a:rPr lang="en-US" sz="2800" b="1" dirty="0">
                <a:sym typeface="fkGroteskNeue"/>
              </a:rPr>
              <a:t>`</a:t>
            </a:r>
            <a:r>
              <a:rPr lang="en-US" sz="2800" dirty="0">
                <a:sym typeface="fkGroteskNeue"/>
              </a:rPr>
              <a:t>)</a:t>
            </a:r>
            <a:endParaRPr lang="ru-RU" sz="2800" dirty="0">
              <a:sym typeface="fkGroteskNeue"/>
            </a:endParaRPr>
          </a:p>
          <a:p>
            <a:pPr marL="514350" lvl="2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последнее принятое предложение</a:t>
            </a:r>
            <a:br>
              <a:rPr lang="ru-RU" sz="2800" dirty="0">
                <a:sym typeface="fkGroteskNeue"/>
              </a:rPr>
            </a:br>
            <a:r>
              <a:rPr lang="ru-RU" sz="2800" b="1" dirty="0">
                <a:sym typeface="fkGroteskNeue"/>
              </a:rPr>
              <a:t>`</a:t>
            </a:r>
            <a:r>
              <a:rPr lang="ru-RU" sz="2800" dirty="0">
                <a:sym typeface="fkGroteskNeue"/>
              </a:rPr>
              <a:t>(</a:t>
            </a:r>
            <a:r>
              <a:rPr lang="en-US" sz="2800" dirty="0" err="1">
                <a:sym typeface="fkGroteskNeue"/>
              </a:rPr>
              <a:t>n_accepted</a:t>
            </a:r>
            <a:r>
              <a:rPr lang="en-US" sz="2800" dirty="0">
                <a:sym typeface="fkGroteskNeue"/>
              </a:rPr>
              <a:t>, </a:t>
            </a:r>
            <a:r>
              <a:rPr lang="en-US" sz="2800" dirty="0" err="1">
                <a:sym typeface="fkGroteskNeue"/>
              </a:rPr>
              <a:t>v_accepted</a:t>
            </a:r>
            <a:r>
              <a:rPr lang="en-US" sz="2800" dirty="0">
                <a:sym typeface="fkGroteskNeue"/>
              </a:rPr>
              <a:t>)</a:t>
            </a:r>
            <a:r>
              <a:rPr lang="en-US" sz="2800" b="1" dirty="0">
                <a:sym typeface="fkGroteskNeue"/>
              </a:rPr>
              <a:t>`</a:t>
            </a:r>
            <a:r>
              <a:rPr lang="en-US" sz="2800" dirty="0">
                <a:sym typeface="fkGroteskNeue"/>
              </a:rPr>
              <a:t>.</a:t>
            </a:r>
            <a:endParaRPr lang="ru-RU" sz="2800" dirty="0">
              <a:sym typeface="fkGroteskNeue"/>
            </a:endParaRPr>
          </a:p>
          <a:p>
            <a:pPr lvl="2" indent="0"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endParaRPr lang="ru-RU" sz="2800" dirty="0">
              <a:sym typeface="fkGroteskNeue"/>
            </a:endParaRPr>
          </a:p>
          <a:p>
            <a:pPr marL="514350" lvl="2" indent="-514350">
              <a:buSzPct val="100000"/>
              <a:buFont typeface="Arial" panose="020B0604020202020204" pitchFamily="34" charset="0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endParaRPr lang="en-US" sz="2800" dirty="0">
              <a:sym typeface="fkGroteskNeue"/>
            </a:endParaRP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endParaRPr lang="ru-RU" sz="2800" dirty="0">
              <a:sym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00295749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CA3C0-115E-7FB2-A20A-47E1979B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B4AD4D56-2FA3-107D-0061-C7AE937A2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A2FCEB8E-A96A-6C81-0335-052BD0481BB7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алгоритма. </a:t>
            </a:r>
            <a:r>
              <a:rPr lang="en-US" dirty="0"/>
              <a:t>Proposer stage 1 ending</a:t>
            </a:r>
            <a:endParaRPr lang="ru-RU" dirty="0"/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932570-9A33-D45D-8B55-46BFF58A7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72" y="4327867"/>
            <a:ext cx="6367771" cy="1903115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5B47F3E9-D54F-842A-0649-77520E687EC6}"/>
              </a:ext>
            </a:extLst>
          </p:cNvPr>
          <p:cNvSpPr txBox="1"/>
          <p:nvPr/>
        </p:nvSpPr>
        <p:spPr>
          <a:xfrm>
            <a:off x="444500" y="1446477"/>
            <a:ext cx="9339581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Proposer </a:t>
            </a:r>
            <a:r>
              <a:rPr lang="ru-RU" sz="2800" dirty="0">
                <a:sym typeface="fkGroteskNeue"/>
              </a:rPr>
              <a:t>ждёт </a:t>
            </a:r>
            <a:r>
              <a:rPr lang="ru-RU" sz="2800" b="1" dirty="0">
                <a:sym typeface="fkGroteskNeue"/>
              </a:rPr>
              <a:t>`</a:t>
            </a:r>
            <a:r>
              <a:rPr lang="en-US" sz="2800" dirty="0">
                <a:sym typeface="fkGroteskNeue"/>
              </a:rPr>
              <a:t>Promise</a:t>
            </a:r>
            <a:r>
              <a:rPr lang="en-US" sz="2800" b="1" dirty="0">
                <a:sym typeface="fkGroteskNeue"/>
              </a:rPr>
              <a:t>` </a:t>
            </a:r>
            <a:r>
              <a:rPr lang="ru-RU" sz="2800" dirty="0">
                <a:sym typeface="fkGroteskNeue"/>
              </a:rPr>
              <a:t>от </a:t>
            </a:r>
            <a:r>
              <a:rPr lang="ru-RU" sz="2800" b="1" dirty="0">
                <a:sym typeface="fkGroteskNeue"/>
              </a:rPr>
              <a:t>большинства</a:t>
            </a:r>
            <a:r>
              <a:rPr lang="ru-RU" sz="2800" dirty="0">
                <a:sym typeface="fkGroteskNeue"/>
              </a:rPr>
              <a:t>.</a:t>
            </a:r>
            <a:endParaRPr lang="en-US" sz="2800" dirty="0">
              <a:sym typeface="fkGroteskNeue"/>
            </a:endParaRPr>
          </a:p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Как только большинство собрано —</a:t>
            </a:r>
            <a:br>
              <a:rPr lang="en-US" sz="2800" dirty="0">
                <a:sym typeface="fkGroteskNeue"/>
              </a:rPr>
            </a:br>
            <a:r>
              <a:rPr lang="ru-RU" sz="2800" dirty="0">
                <a:sym typeface="fkGroteskNeue"/>
              </a:rPr>
              <a:t>он переходит к фазе 2.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endParaRPr lang="ru-RU" sz="2800" dirty="0">
              <a:sym typeface="fkGroteskNeu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C73C1F-EB71-33AE-F5B2-16B5A1E00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190" y="2258961"/>
            <a:ext cx="7279710" cy="560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8280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052C-AC2D-E017-D351-CE4A35FB0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2F36684-2125-B5F8-95FB-3AEE6552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09DDDC01-52ED-E2A8-09CD-192B204B688B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алгоритма. </a:t>
            </a:r>
            <a:r>
              <a:rPr lang="en-US" dirty="0"/>
              <a:t>Proposer stage 2</a:t>
            </a:r>
            <a:endParaRPr lang="ru-RU" dirty="0"/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A52278-4441-DAE6-2804-A51086795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98" y="5678785"/>
            <a:ext cx="6367771" cy="1903115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56A333A3-1A4A-88E7-63A1-BCB86758CDCB}"/>
              </a:ext>
            </a:extLst>
          </p:cNvPr>
          <p:cNvSpPr txBox="1"/>
          <p:nvPr/>
        </p:nvSpPr>
        <p:spPr>
          <a:xfrm>
            <a:off x="444500" y="1446477"/>
            <a:ext cx="9339581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Proposer </a:t>
            </a:r>
            <a:r>
              <a:rPr lang="ru-RU" sz="2800" dirty="0">
                <a:sym typeface="fkGroteskNeue"/>
              </a:rPr>
              <a:t>смотрит значения в ответах у большинства.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Выбирает из всех значений</a:t>
            </a:r>
            <a:r>
              <a:rPr lang="en-US" sz="2800" dirty="0">
                <a:sym typeface="fkGroteskNeue"/>
              </a:rPr>
              <a:t> </a:t>
            </a:r>
            <a:r>
              <a:rPr lang="en-US" sz="2800" dirty="0" err="1">
                <a:sym typeface="fkGroteskNeue"/>
              </a:rPr>
              <a:t>v_a</a:t>
            </a:r>
            <a:r>
              <a:rPr lang="en-US" sz="2800" dirty="0">
                <a:sym typeface="fkGroteskNeue"/>
              </a:rPr>
              <a:t> </a:t>
            </a:r>
            <a:r>
              <a:rPr lang="ru-RU" sz="2800" dirty="0">
                <a:sym typeface="fkGroteskNeue"/>
              </a:rPr>
              <a:t>САМОЕ БОЛЬШОЕ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И далее предлагает уже это </a:t>
            </a:r>
            <a:r>
              <a:rPr lang="en-US" sz="2800" dirty="0" err="1">
                <a:sym typeface="fkGroteskNeue"/>
              </a:rPr>
              <a:t>v_a_max</a:t>
            </a:r>
            <a:br>
              <a:rPr lang="en-US" sz="2800" dirty="0">
                <a:sym typeface="fkGroteskNeue"/>
              </a:rPr>
            </a:br>
            <a:r>
              <a:rPr lang="ru-RU" sz="2800" dirty="0">
                <a:sym typeface="fkGroteskNeue"/>
              </a:rPr>
              <a:t>на следующий этап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И только если все </a:t>
            </a:r>
            <a:r>
              <a:rPr lang="en-US" sz="2800" dirty="0">
                <a:sym typeface="fkGroteskNeue"/>
              </a:rPr>
              <a:t>promise</a:t>
            </a:r>
            <a:r>
              <a:rPr lang="ru-RU" sz="2800" dirty="0">
                <a:sym typeface="fkGroteskNeue"/>
              </a:rPr>
              <a:t>-ы пустые, он</a:t>
            </a:r>
            <a:br>
              <a:rPr lang="ru-RU" sz="2800" dirty="0">
                <a:sym typeface="fkGroteskNeue"/>
              </a:rPr>
            </a:br>
            <a:r>
              <a:rPr lang="ru-RU" sz="2800" dirty="0">
                <a:sym typeface="fkGroteskNeue"/>
              </a:rPr>
              <a:t>может предложить свое значение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6C66C-47D0-29FB-389B-17BC54214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190" y="2258961"/>
            <a:ext cx="7279710" cy="560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7073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D0AA1-A628-C4FE-0BBD-5EE0F1CC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27BBD4E5-E72C-A9C7-4DE4-A995AF15C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D1AB6AE6-A2D9-3707-75EB-15E68249481F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алгоритма. </a:t>
            </a:r>
            <a:r>
              <a:rPr lang="en-US" dirty="0"/>
              <a:t>Proposer stage 2</a:t>
            </a:r>
            <a:endParaRPr lang="ru-RU" dirty="0"/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314EEB-7D9D-7F8A-FE12-EE7A4CF11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737" y="4213901"/>
            <a:ext cx="10813942" cy="3231928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64D99E1B-E6B1-F482-ED6C-002FE6DBA8CC}"/>
              </a:ext>
            </a:extLst>
          </p:cNvPr>
          <p:cNvSpPr txBox="1"/>
          <p:nvPr/>
        </p:nvSpPr>
        <p:spPr>
          <a:xfrm>
            <a:off x="444500" y="1446477"/>
            <a:ext cx="9339581" cy="129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Proposer </a:t>
            </a:r>
            <a:r>
              <a:rPr lang="ru-RU" sz="2800" dirty="0">
                <a:sym typeface="fkGroteskNeue"/>
              </a:rPr>
              <a:t>выбирает значение по предыдущей логике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И с выбранным значением отсылает сообщение </a:t>
            </a:r>
            <a:r>
              <a:rPr lang="en-US" sz="2800" dirty="0">
                <a:sym typeface="fkGroteskNeue"/>
              </a:rPr>
              <a:t>Accept!(n, v) </a:t>
            </a:r>
            <a:r>
              <a:rPr lang="ru-RU" sz="2800" dirty="0">
                <a:sym typeface="fkGroteskNeue"/>
              </a:rPr>
              <a:t>большинству нод (или всем нодам)</a:t>
            </a:r>
          </a:p>
        </p:txBody>
      </p:sp>
    </p:spTree>
    <p:extLst>
      <p:ext uri="{BB962C8B-B14F-4D97-AF65-F5344CB8AC3E}">
        <p14:creationId xmlns:p14="http://schemas.microsoft.com/office/powerpoint/2010/main" val="281700831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FADA1-8FD8-6DD6-7275-EC9684741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24BE0B51-2C9C-594D-A153-C15DFEAE3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8B52C73D-3AF8-A0A8-6105-60B36D4EF779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алгоритма. </a:t>
            </a:r>
            <a:r>
              <a:rPr lang="en-US" dirty="0"/>
              <a:t>Acceptor stage 2</a:t>
            </a:r>
            <a:endParaRPr lang="ru-RU" dirty="0"/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BDBC3E-6770-4886-6C9D-C81CFFEEF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737" y="4213901"/>
            <a:ext cx="10813942" cy="3231928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8BE05380-13BF-4278-7041-269D24CE26A3}"/>
              </a:ext>
            </a:extLst>
          </p:cNvPr>
          <p:cNvSpPr txBox="1"/>
          <p:nvPr/>
        </p:nvSpPr>
        <p:spPr>
          <a:xfrm>
            <a:off x="444500" y="1446477"/>
            <a:ext cx="9339581" cy="215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Acceptor </a:t>
            </a:r>
            <a:r>
              <a:rPr lang="ru-RU" sz="2800" dirty="0">
                <a:sym typeface="fkGroteskNeue"/>
              </a:rPr>
              <a:t>получает значение в сообщении </a:t>
            </a:r>
            <a:r>
              <a:rPr lang="en-US" sz="2800" dirty="0">
                <a:sym typeface="fkGroteskNeue"/>
              </a:rPr>
              <a:t>Accept!(n, v)</a:t>
            </a:r>
            <a:endParaRPr lang="ru-RU" sz="2800" dirty="0">
              <a:sym typeface="fkGroteskNeue"/>
            </a:endParaRPr>
          </a:p>
          <a:p>
            <a:pPr marL="514350" indent="-514350" algn="just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Если у </a:t>
            </a:r>
            <a:r>
              <a:rPr lang="en-US" sz="2800" dirty="0">
                <a:sym typeface="fkGroteskNeue"/>
              </a:rPr>
              <a:t>Acceptor-</a:t>
            </a:r>
            <a:r>
              <a:rPr lang="ru-RU" sz="2800" dirty="0">
                <a:sym typeface="fkGroteskNeue"/>
              </a:rPr>
              <a:t>а </a:t>
            </a:r>
            <a:r>
              <a:rPr lang="en-US" sz="2800" dirty="0">
                <a:sym typeface="fkGroteskNeue"/>
              </a:rPr>
              <a:t>n &gt; </a:t>
            </a:r>
            <a:r>
              <a:rPr lang="en-US" sz="2800" dirty="0" err="1">
                <a:sym typeface="fkGroteskNeue"/>
              </a:rPr>
              <a:t>n_promised</a:t>
            </a:r>
            <a:r>
              <a:rPr lang="en-US" sz="2800" dirty="0">
                <a:sym typeface="fkGroteskNeue"/>
              </a:rPr>
              <a:t> – </a:t>
            </a:r>
            <a:r>
              <a:rPr lang="ru-RU" sz="2800" dirty="0">
                <a:sym typeface="fkGroteskNeue"/>
              </a:rPr>
              <a:t>он принимает новое значение и отправляет </a:t>
            </a:r>
            <a:r>
              <a:rPr lang="en-US" sz="2800" dirty="0">
                <a:sym typeface="fkGroteskNeue"/>
              </a:rPr>
              <a:t>Accepted(n, v) </a:t>
            </a:r>
            <a:r>
              <a:rPr lang="ru-RU" sz="2800" dirty="0">
                <a:sym typeface="fkGroteskNeue"/>
              </a:rPr>
              <a:t>обратно</a:t>
            </a:r>
          </a:p>
          <a:p>
            <a:pPr marL="514350" indent="-514350" algn="just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Иначе – отправляет</a:t>
            </a:r>
            <a:r>
              <a:rPr lang="en-US" sz="2800" dirty="0">
                <a:sym typeface="fkGroteskNeue"/>
              </a:rPr>
              <a:t> </a:t>
            </a:r>
            <a:r>
              <a:rPr lang="ru-RU" sz="2800" dirty="0">
                <a:sym typeface="fkGroteskNeue"/>
              </a:rPr>
              <a:t>отвергает значение и отправляет обратно значение своего максимума</a:t>
            </a:r>
          </a:p>
        </p:txBody>
      </p:sp>
    </p:spTree>
    <p:extLst>
      <p:ext uri="{BB962C8B-B14F-4D97-AF65-F5344CB8AC3E}">
        <p14:creationId xmlns:p14="http://schemas.microsoft.com/office/powerpoint/2010/main" val="316644700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B30F6-8280-AB09-61BA-ED60EBD9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DBA489FF-8F2E-7556-FDA9-42B6E7D24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42B12A5B-711A-EFD7-892A-B0A8F77C9C74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Кворумы в алгоритме </a:t>
            </a:r>
            <a:r>
              <a:rPr lang="en-US" dirty="0"/>
              <a:t>Paxos</a:t>
            </a:r>
            <a:endParaRPr lang="ru-RU" dirty="0"/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2A8560-469D-8CCF-5870-9072E53FC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394" y="1327624"/>
            <a:ext cx="8549348" cy="657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2330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B2FA6-D6CB-9B18-E758-A164F3DF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4264C43-78FD-F26A-0ACA-B8EB7AC44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29D2DAE7-A844-2EFF-E56D-415DEB19155C}"/>
              </a:ext>
            </a:extLst>
          </p:cNvPr>
          <p:cNvSpPr txBox="1"/>
          <p:nvPr/>
        </p:nvSpPr>
        <p:spPr>
          <a:xfrm>
            <a:off x="495300" y="3445578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0</a:t>
            </a:r>
            <a:r>
              <a:rPr lang="en-US" sz="4400" dirty="0"/>
              <a:t>:</a:t>
            </a:r>
            <a:r>
              <a:rPr lang="ru-RU" sz="4400" dirty="0"/>
              <a:t> </a:t>
            </a:r>
            <a:r>
              <a:rPr lang="en-US" sz="4400" dirty="0"/>
              <a:t>Paxos </a:t>
            </a:r>
            <a:r>
              <a:rPr lang="ru-RU" sz="4400" dirty="0"/>
              <a:t>с одним </a:t>
            </a:r>
            <a:r>
              <a:rPr lang="en-US" sz="4400" dirty="0"/>
              <a:t>Proposer-</a:t>
            </a:r>
            <a:r>
              <a:rPr lang="ru-RU" sz="4400" dirty="0"/>
              <a:t>ом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41100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0CEA4-63E2-8186-B0DC-483519877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71C92AA-6106-FD6A-8884-B8423D146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8B7B73E1-C9F6-8E7F-2C20-63456F1ED030}"/>
              </a:ext>
            </a:extLst>
          </p:cNvPr>
          <p:cNvSpPr txBox="1"/>
          <p:nvPr/>
        </p:nvSpPr>
        <p:spPr>
          <a:xfrm>
            <a:off x="444500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0</a:t>
            </a:r>
            <a:r>
              <a:rPr lang="en-US" sz="4400" dirty="0"/>
              <a:t>:</a:t>
            </a:r>
            <a:r>
              <a:rPr lang="ru-RU" sz="4400" dirty="0"/>
              <a:t> </a:t>
            </a:r>
            <a:r>
              <a:rPr lang="en-US" sz="4400" dirty="0"/>
              <a:t>Paxos </a:t>
            </a:r>
            <a:r>
              <a:rPr lang="ru-RU" sz="4400" dirty="0"/>
              <a:t>с одним </a:t>
            </a:r>
            <a:r>
              <a:rPr lang="en-US" sz="4400" dirty="0"/>
              <a:t>Proposer-</a:t>
            </a:r>
            <a:r>
              <a:rPr lang="ru-RU" sz="4400" dirty="0"/>
              <a:t>ом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D23F42-19BE-E88C-BE1C-5178D4E0F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096" y="1031725"/>
            <a:ext cx="9890207" cy="655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6657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BB558-D403-62A7-74F9-5FD9AFE6C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B01D41E-3E7D-1F68-2141-466D1A77C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8047B99B-A646-DA4B-66D7-912F1A4AF696}"/>
              </a:ext>
            </a:extLst>
          </p:cNvPr>
          <p:cNvSpPr txBox="1"/>
          <p:nvPr/>
        </p:nvSpPr>
        <p:spPr>
          <a:xfrm>
            <a:off x="444500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0</a:t>
            </a:r>
            <a:r>
              <a:rPr lang="en-US" sz="4400" dirty="0"/>
              <a:t>:</a:t>
            </a:r>
            <a:r>
              <a:rPr lang="ru-RU" sz="4400" dirty="0"/>
              <a:t> </a:t>
            </a:r>
            <a:r>
              <a:rPr lang="en-US" sz="4400" dirty="0"/>
              <a:t>Paxos </a:t>
            </a:r>
            <a:r>
              <a:rPr lang="ru-RU" sz="4400" dirty="0"/>
              <a:t>с одним </a:t>
            </a:r>
            <a:r>
              <a:rPr lang="en-US" sz="4400" dirty="0"/>
              <a:t>Proposer-</a:t>
            </a:r>
            <a:r>
              <a:rPr lang="ru-RU" sz="4400" dirty="0"/>
              <a:t>ом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615865-0A37-E1AB-277B-45CF5BCA2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750" y="951422"/>
            <a:ext cx="10332710" cy="695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21482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EAD69-F2D8-0516-FAD8-01AC46DD4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B262BF5-D4F5-4B2B-19C3-DE0BA9547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DE6667B8-134A-F61B-2B1D-CC307E3F82EB}"/>
              </a:ext>
            </a:extLst>
          </p:cNvPr>
          <p:cNvSpPr txBox="1"/>
          <p:nvPr/>
        </p:nvSpPr>
        <p:spPr>
          <a:xfrm>
            <a:off x="444500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0</a:t>
            </a:r>
            <a:r>
              <a:rPr lang="en-US" sz="4400" dirty="0"/>
              <a:t>:</a:t>
            </a:r>
            <a:r>
              <a:rPr lang="ru-RU" sz="4400" dirty="0"/>
              <a:t> </a:t>
            </a:r>
            <a:r>
              <a:rPr lang="en-US" sz="4400" dirty="0"/>
              <a:t>Paxos </a:t>
            </a:r>
            <a:r>
              <a:rPr lang="ru-RU" sz="4400" dirty="0"/>
              <a:t>с одним </a:t>
            </a:r>
            <a:r>
              <a:rPr lang="en-US" sz="4400" dirty="0"/>
              <a:t>Proposer-</a:t>
            </a:r>
            <a:r>
              <a:rPr lang="ru-RU" sz="4400" dirty="0"/>
              <a:t>ом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E5A38C-C1D8-FFCD-FA75-26BE859C1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100" y="861092"/>
            <a:ext cx="10350500" cy="723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6424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0590C-DB36-6C79-1289-9707B472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CBF0F20-D731-8802-2BB3-5224C4B4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C7E4202F-F0B7-579B-00FF-7067FBE041F6}"/>
              </a:ext>
            </a:extLst>
          </p:cNvPr>
          <p:cNvSpPr txBox="1"/>
          <p:nvPr/>
        </p:nvSpPr>
        <p:spPr>
          <a:xfrm>
            <a:off x="444500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0</a:t>
            </a:r>
            <a:r>
              <a:rPr lang="en-US" sz="4400" dirty="0"/>
              <a:t>:</a:t>
            </a:r>
            <a:r>
              <a:rPr lang="ru-RU" sz="4400" dirty="0"/>
              <a:t> </a:t>
            </a:r>
            <a:r>
              <a:rPr lang="en-US" sz="4400" dirty="0"/>
              <a:t>Paxos </a:t>
            </a:r>
            <a:r>
              <a:rPr lang="ru-RU" sz="4400" dirty="0"/>
              <a:t>с одним </a:t>
            </a:r>
            <a:r>
              <a:rPr lang="en-US" sz="4400" dirty="0"/>
              <a:t>Proposer-</a:t>
            </a:r>
            <a:r>
              <a:rPr lang="ru-RU" sz="4400" dirty="0"/>
              <a:t>ом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1D3497-AE85-0885-FE43-AB994E6FF7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662" y="1108355"/>
            <a:ext cx="10125075" cy="679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2263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9FC24-A583-84A0-EE09-C93D50726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B35D70E-8A1D-F823-02FF-01A454226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C599DA4F-59ED-7989-C98B-6489619DF64D}"/>
              </a:ext>
            </a:extLst>
          </p:cNvPr>
          <p:cNvSpPr txBox="1"/>
          <p:nvPr/>
        </p:nvSpPr>
        <p:spPr>
          <a:xfrm>
            <a:off x="444500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0</a:t>
            </a:r>
            <a:r>
              <a:rPr lang="en-US" sz="4400" dirty="0"/>
              <a:t>:</a:t>
            </a:r>
            <a:r>
              <a:rPr lang="ru-RU" sz="4400" dirty="0"/>
              <a:t> </a:t>
            </a:r>
            <a:r>
              <a:rPr lang="en-US" sz="4400" dirty="0"/>
              <a:t>Paxos </a:t>
            </a:r>
            <a:r>
              <a:rPr lang="ru-RU" sz="4400" dirty="0"/>
              <a:t>с одним </a:t>
            </a:r>
            <a:r>
              <a:rPr lang="en-US" sz="4400" dirty="0"/>
              <a:t>Proposer-</a:t>
            </a:r>
            <a:r>
              <a:rPr lang="ru-RU" sz="4400" dirty="0"/>
              <a:t>ом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D65B04-4452-6D14-EC79-18F32CF38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296" y="895161"/>
            <a:ext cx="10753807" cy="719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63365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0F1AF-6086-6117-709B-36F1FF08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DE9CF150-472A-EBDE-8E17-D401ECBAF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C59225D5-B106-8803-1945-D397393CE5E1}"/>
              </a:ext>
            </a:extLst>
          </p:cNvPr>
          <p:cNvSpPr txBox="1"/>
          <p:nvPr/>
        </p:nvSpPr>
        <p:spPr>
          <a:xfrm>
            <a:off x="444500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0</a:t>
            </a:r>
            <a:r>
              <a:rPr lang="en-US" sz="4400" dirty="0"/>
              <a:t>:</a:t>
            </a:r>
            <a:r>
              <a:rPr lang="ru-RU" sz="4400" dirty="0"/>
              <a:t> </a:t>
            </a:r>
            <a:r>
              <a:rPr lang="en-US" sz="4400" dirty="0"/>
              <a:t>Paxos </a:t>
            </a:r>
            <a:r>
              <a:rPr lang="ru-RU" sz="4400" dirty="0"/>
              <a:t>с одним </a:t>
            </a:r>
            <a:r>
              <a:rPr lang="en-US" sz="4400" dirty="0"/>
              <a:t>Proposer-</a:t>
            </a:r>
            <a:r>
              <a:rPr lang="ru-RU" sz="4400" dirty="0"/>
              <a:t>ом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D99CA6-C087-45F0-E3E4-05B2B862B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59" y="957946"/>
            <a:ext cx="10058482" cy="713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6605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FCC6-58D7-291C-0498-F09E13D1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3E7A3FA-3583-4DBE-08BB-7FE824F73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EE97B90C-FEB0-1F87-7809-E2915E5C3B57}"/>
              </a:ext>
            </a:extLst>
          </p:cNvPr>
          <p:cNvSpPr txBox="1"/>
          <p:nvPr/>
        </p:nvSpPr>
        <p:spPr>
          <a:xfrm>
            <a:off x="444500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0</a:t>
            </a:r>
            <a:r>
              <a:rPr lang="en-US" sz="4400" dirty="0"/>
              <a:t>:</a:t>
            </a:r>
            <a:r>
              <a:rPr lang="ru-RU" sz="4400" dirty="0"/>
              <a:t> </a:t>
            </a:r>
            <a:r>
              <a:rPr lang="en-US" sz="4400" dirty="0"/>
              <a:t>Paxos </a:t>
            </a:r>
            <a:r>
              <a:rPr lang="ru-RU" sz="4400" dirty="0"/>
              <a:t>с одним </a:t>
            </a:r>
            <a:r>
              <a:rPr lang="en-US" sz="4400" dirty="0"/>
              <a:t>Proposer-</a:t>
            </a:r>
            <a:r>
              <a:rPr lang="ru-RU" sz="4400" dirty="0"/>
              <a:t>ом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73B45B-359A-D460-BCF7-893AB53A53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100" y="1015725"/>
            <a:ext cx="10490200" cy="707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5063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3E0F0-AD72-1B92-90EC-96921279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D82769F0-27A4-D364-158B-B3C5B2CDF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6F38AEAB-72C6-5302-34C0-566A29DBD48C}"/>
              </a:ext>
            </a:extLst>
          </p:cNvPr>
          <p:cNvSpPr txBox="1"/>
          <p:nvPr/>
        </p:nvSpPr>
        <p:spPr>
          <a:xfrm>
            <a:off x="590632" y="2968250"/>
            <a:ext cx="13449136" cy="2749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1: </a:t>
            </a:r>
            <a:r>
              <a:rPr lang="en-US" sz="4400" dirty="0"/>
              <a:t>Paxos </a:t>
            </a:r>
            <a:r>
              <a:rPr lang="ru-RU" sz="4400" dirty="0"/>
              <a:t>с несколькими </a:t>
            </a:r>
            <a:r>
              <a:rPr lang="en-US" sz="4400" dirty="0"/>
              <a:t>Proposer-</a:t>
            </a:r>
            <a:r>
              <a:rPr lang="ru-RU" sz="4400" dirty="0" err="1"/>
              <a:t>ами</a:t>
            </a:r>
            <a:r>
              <a:rPr lang="ru-RU" sz="4400" dirty="0"/>
              <a:t>: падение первого </a:t>
            </a:r>
            <a:r>
              <a:rPr lang="en-US" sz="4400" dirty="0"/>
              <a:t>proposer-</a:t>
            </a:r>
            <a:r>
              <a:rPr lang="ru-RU" sz="4400" dirty="0"/>
              <a:t>а и подхват его значения другим </a:t>
            </a:r>
            <a:r>
              <a:rPr lang="en-US" sz="4400" dirty="0"/>
              <a:t>proposer-</a:t>
            </a:r>
            <a:r>
              <a:rPr lang="ru-RU" sz="4400" dirty="0"/>
              <a:t>ом</a:t>
            </a:r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542908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F4AC-35F4-ACE6-F755-47E8C42EF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7C04B0B8-9071-22DF-BC52-B83FFF6DD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05B5678C-0904-31B4-75FF-E5C025CE7190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1EF925-6901-B348-CD5B-525E78E08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725" y="873427"/>
            <a:ext cx="7854950" cy="722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1308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EDE53-B321-159D-F4BF-9A3C94117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ECC5AB94-B1A9-A04C-D98E-D21F6C7A5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918E0104-36A2-3950-9E3A-D589436CE2D8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5EC088-6DFD-EC3E-B785-08799F225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75" y="805372"/>
            <a:ext cx="8629650" cy="733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5289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AB3A5-D5D3-B12E-F65B-6A2EA5F84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914820BA-574D-4288-7BA4-2C9D9A2FC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A4E39C94-FE1E-357D-FE3D-CA6948E5B107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FF0C69-5CCB-A5AD-F10C-38219AE57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950" y="805372"/>
            <a:ext cx="8064500" cy="729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505184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40969-7E6F-A794-6D49-0C5E295D8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C83FA2FA-0B2E-BAEA-99E8-19FCA1721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511DAB18-8379-839E-EDED-0540A86ED704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7B78D8-B48A-EBE9-E74B-5CAFAABA0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650" y="801326"/>
            <a:ext cx="8451850" cy="734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0336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4A8BA-8F2B-48AF-4D55-34775BF26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23CE75AD-62F2-C0F4-71D8-E65AFCDEB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76D027CF-3A53-D5FE-D4CD-002B82B4FFA1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7BDED8-02B5-B948-AE8F-159896B72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050" y="805372"/>
            <a:ext cx="8496300" cy="733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7867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674EB-ECEB-B7DA-9EA9-493F42CC7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18494C84-ACD1-BAA5-0022-5B9DAFF75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7A0D03E7-DFC1-6400-5B27-8748A1618FDE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2FFAA3-3DC2-6268-5306-91BCC7DE6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175" y="805372"/>
            <a:ext cx="8274050" cy="729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7001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72AAD-CC3A-A1E5-B389-2307F05F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13FED585-C251-F47C-DD8C-12B5BDEE3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9EAFAC1C-0969-3A90-ED91-F08E1DDD5528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5B560E-A499-65ED-9EDB-34F4DA0ADD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963" y="859275"/>
            <a:ext cx="8262474" cy="72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178712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CC680-F87C-FF1E-ABA6-71AA889D1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A43C566D-7358-EE47-8BEB-758D89F61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81EC797F-C4EA-C38E-AA97-B731F41EA6F1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7029F1-A4F7-A937-5498-CD248B3BE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255" y="805372"/>
            <a:ext cx="7987890" cy="728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40115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85D2C-CF51-97F3-58FA-15935BE0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9571C2EC-E8C8-9C50-3FE9-FCB2F78A5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1D5F8083-747F-B0B1-8211-A43410F8692D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7DB59D-70C0-1EA2-4C4B-B3D2B46C3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445" y="805372"/>
            <a:ext cx="8399510" cy="728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8489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783F3-FA4A-0DB9-2145-67E344DAF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1EE32AAC-9FBA-91E2-89C1-E270D2A87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AFDABF0A-468B-6A61-3D96-9915633534E8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2E5CE0-95E5-5B00-0628-5674A2E1C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400" y="885985"/>
            <a:ext cx="8559800" cy="727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06729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A1D09-889B-049A-5CC1-B6AF95B2A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1C2C714C-D837-A60E-7F08-8EF299DCE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EDAC5A5B-6AC8-E120-009C-B97E93289E15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7533D2-D99C-263F-8BD5-D130E884C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050" y="843803"/>
            <a:ext cx="8451850" cy="724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0686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75CEA-C358-6473-7490-FA12854C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AC75389-A561-7446-9FDF-E104FDFB3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3D3F8D1F-3131-0ED9-AD7A-34187B3F6DB4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4CC59F-B17E-C153-7940-EE0ED59D7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275" y="805372"/>
            <a:ext cx="8959850" cy="713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28651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EF8E7-D56B-A95D-4388-A15D50D87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82E5616-2293-7B6E-B217-82C31B6A7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1DC838B8-420D-BCBD-3FCC-2911E9D09180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D29DB5-33BB-5181-A040-DCF98C5346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1824" y="908050"/>
            <a:ext cx="8766175" cy="707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4573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212EE-AECA-019D-EF3B-2F077F85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81EAD177-84F7-8477-4E0A-17E3DFF0B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4CF1FCB8-A800-9855-7034-66B798616051}"/>
              </a:ext>
            </a:extLst>
          </p:cNvPr>
          <p:cNvSpPr txBox="1"/>
          <p:nvPr/>
        </p:nvSpPr>
        <p:spPr>
          <a:xfrm>
            <a:off x="590632" y="2968250"/>
            <a:ext cx="13449136" cy="344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2: </a:t>
            </a:r>
            <a:r>
              <a:rPr lang="en-US" sz="4400" dirty="0"/>
              <a:t>Paxos </a:t>
            </a:r>
            <a:r>
              <a:rPr lang="ru-RU" sz="4400" dirty="0"/>
              <a:t>с несколькими </a:t>
            </a:r>
            <a:r>
              <a:rPr lang="en-US" sz="4400" dirty="0"/>
              <a:t>Proposer-</a:t>
            </a:r>
            <a:r>
              <a:rPr lang="ru-RU" sz="4400" dirty="0" err="1"/>
              <a:t>ами</a:t>
            </a:r>
            <a:r>
              <a:rPr lang="ru-RU" sz="4400" dirty="0"/>
              <a:t>: падение первого </a:t>
            </a:r>
            <a:r>
              <a:rPr lang="en-US" sz="4400" dirty="0"/>
              <a:t>proposer-</a:t>
            </a:r>
            <a:r>
              <a:rPr lang="ru-RU" sz="4400" dirty="0"/>
              <a:t>а, но фиксация нового значения другим </a:t>
            </a:r>
            <a:r>
              <a:rPr lang="ru-RU" sz="4400" dirty="0" err="1"/>
              <a:t>p</a:t>
            </a:r>
            <a:r>
              <a:rPr lang="en-US" sz="4400" dirty="0" err="1"/>
              <a:t>roposer</a:t>
            </a:r>
            <a:r>
              <a:rPr lang="ru-RU" sz="4400" dirty="0"/>
              <a:t>-ом</a:t>
            </a:r>
          </a:p>
          <a:p>
            <a:pPr algn="ctr"/>
            <a:endParaRPr lang="ru-RU" sz="4400" dirty="0"/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2761972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C77A6-093B-089C-D74A-0D5104EAE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AFC1C54-4649-E6E2-7076-0500ED147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BC2D0B79-D66D-9C45-C184-7863D13BA0BD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D47C6E-27BC-EC32-97DD-D7FD8AFEA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74" y="811724"/>
            <a:ext cx="7893315" cy="728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18538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C4A8C-0CAE-63A8-5BEA-C8623A50F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66975D6-69AA-C54B-5DE9-977105A00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B1A35F5E-27D2-4B24-CAEB-8B79B9D7E9BC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9C37D5-CFA5-553E-582A-F15F6BB0D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574" y="805537"/>
            <a:ext cx="8175625" cy="728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31898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C8D3F-4EAA-0704-6A02-14B21795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E72B702-76D4-568F-50D7-306965253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11E7C608-22C0-9859-7577-D1AE42E03E80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9CDAEE-2F0C-12A9-42E1-B32DBD56C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400" y="782483"/>
            <a:ext cx="7975600" cy="731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201631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AF1D-E230-143F-35F2-6187F3639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A8865022-CDA0-3818-B0BA-4AA5BE105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5F1E1B49-8375-1970-FF9F-96AF913B13D9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1C456A-CB40-D823-A73B-10D8D3ADE1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700" y="990694"/>
            <a:ext cx="8699500" cy="710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46349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8A9D-0128-E0EB-8A5B-31E8135EA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F298A4CE-59D6-D8C2-D694-1B8647604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EF6DD919-69DB-CCCB-D434-333DD8344699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1A4085-5221-8173-E891-F844344C4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825574"/>
            <a:ext cx="8343900" cy="726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56666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C6B52-4962-3920-62A4-B20508A78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CB3A526-C3C3-E691-B779-3F1EAADCD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68F74F4F-5ED5-F9A0-5768-A453A37C084F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A61CA6-0682-D6B8-4A32-B0F413D83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574" y="897741"/>
            <a:ext cx="9217026" cy="71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198845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4D7CC-831D-A4BA-C6E8-279D1E301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2D9A066F-1A06-6375-B447-6EC23EB38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A3518562-EA76-4290-7923-F3028E40A2F3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676B52-9F89-C523-6C0E-0FE85C2A2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24" y="856172"/>
            <a:ext cx="8731151" cy="721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85999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84A93-9FE3-9516-9E72-27D432CA1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E13A024-7214-5460-7977-37F69C724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35D9CAC3-7E51-19EE-6A39-27DA30AEC01A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9C4F02-BBD9-769C-25BB-9D41D585F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800" y="805372"/>
            <a:ext cx="7670800" cy="717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86170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F6E8F-9034-BF42-0E03-9FC14EB18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7B077B77-FA19-7713-57B2-0963BCE68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3134514D-D6E7-5224-3F2B-992B4E7F787B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F9BF0D-122B-14A3-E9B5-20CA2CDFE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975" y="905409"/>
            <a:ext cx="8172450" cy="718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1524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347C1-9702-9A2E-6EF8-B516022D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1C45D0E-7AB0-74D1-46B5-29773667B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11AAED46-7ECE-9E62-36E1-2FE229A5FAA9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457BA7-ECC5-E83A-4659-B4045616B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825" y="831994"/>
            <a:ext cx="8032750" cy="726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8106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5A00-9971-93BF-0DEE-BCD334C5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DFFA05D-F183-5BDD-CAFC-A93B35DA0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6187341E-76CA-D4D2-73F0-C573208EDB20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6E89A01-80CD-1016-8D58-DF1CD9D19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998161"/>
            <a:ext cx="8382000" cy="709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97163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9D56-1316-6AE3-81A3-8BFEBD8DC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E660A589-40FF-E0B3-3EC3-D060C8414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A1798B15-CC5A-0C3E-7540-06C57B95813C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6035B6-9B51-D630-8F52-BC6D15A19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125" y="923990"/>
            <a:ext cx="8312150" cy="716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9418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18E6-9604-BC39-B352-0A407E5C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99D9D526-AA8B-43D6-322E-443A1DF2D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97C5A3DE-E167-DC6A-9FB0-D99DED53270B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00DAE4-7111-0F42-C3CB-047511748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650" y="920037"/>
            <a:ext cx="7785100" cy="717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83394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8C1C1-66E7-0E77-44AF-BEEE21DD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7E0B4C5-B3AF-7EC2-C98E-253288032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746A5DBC-C09A-E49E-B3CE-4C07A21F0456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55B7D7C-9D4D-A367-9073-63E90CA83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162" y="903225"/>
            <a:ext cx="8220075" cy="719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10895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7F08-8B2C-F1D5-DE0F-5A9BA059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41E4479-72E5-665E-5BE7-30DE3B664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8F875056-E306-DB71-FFB2-DC1F7FB6FA79}"/>
              </a:ext>
            </a:extLst>
          </p:cNvPr>
          <p:cNvSpPr txBox="1"/>
          <p:nvPr/>
        </p:nvSpPr>
        <p:spPr>
          <a:xfrm>
            <a:off x="590632" y="2968250"/>
            <a:ext cx="13449136" cy="4134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3: </a:t>
            </a:r>
            <a:r>
              <a:rPr lang="en-US" sz="4400" dirty="0"/>
              <a:t>Paxos</a:t>
            </a:r>
            <a:r>
              <a:rPr lang="ru-RU" sz="4400" dirty="0"/>
              <a:t> с несколькими </a:t>
            </a:r>
            <a:r>
              <a:rPr lang="en-US" sz="4400" dirty="0"/>
              <a:t>Proposer-</a:t>
            </a:r>
            <a:r>
              <a:rPr lang="ru-RU" sz="4400" dirty="0" err="1"/>
              <a:t>ами</a:t>
            </a:r>
            <a:r>
              <a:rPr lang="ru-RU" sz="4400" dirty="0"/>
              <a:t>: падение </a:t>
            </a:r>
            <a:r>
              <a:rPr lang="en-US" sz="4400" dirty="0"/>
              <a:t>proposer-</a:t>
            </a:r>
            <a:r>
              <a:rPr lang="ru-RU" sz="4400" dirty="0"/>
              <a:t>а и </a:t>
            </a:r>
            <a:r>
              <a:rPr lang="en-US" sz="4400" dirty="0"/>
              <a:t>acceptor-</a:t>
            </a:r>
            <a:r>
              <a:rPr lang="ru-RU" sz="4400" dirty="0"/>
              <a:t>а, который принял его значение</a:t>
            </a:r>
            <a:endParaRPr lang="en-US" sz="4400" dirty="0"/>
          </a:p>
          <a:p>
            <a:pPr algn="ctr"/>
            <a:endParaRPr lang="ru-RU" sz="4400" dirty="0"/>
          </a:p>
          <a:p>
            <a:pPr algn="ctr"/>
            <a:endParaRPr lang="ru-RU" sz="4400" dirty="0"/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5500765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E3F2D-9C70-920C-869B-88B212E6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A477E9B9-94FC-CE3C-6836-E52CDE1B9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545001C4-7E35-7302-7809-E3E0110474CA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3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08D2E4-D5EF-85F4-A0E3-E3D8EC627F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5" y="936512"/>
            <a:ext cx="8223250" cy="715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97655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A1502-BD1A-7244-9080-A26166B9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294A0298-6EC8-B474-DF30-367DDFEB6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DD2629D8-9176-9FF0-7467-E44293059330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3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87D061-6C38-8987-20F2-5E0E218D7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200" y="805372"/>
            <a:ext cx="8318500" cy="729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17383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7516C-5C30-43CF-8D07-B842C2E4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BD602753-C3DD-A4A7-D8B5-2C761D254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54C0A2D4-3249-8542-B290-BFF0A7D631D5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3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189352-353A-0BC1-E306-2AEF59038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069" y="825539"/>
            <a:ext cx="8429932" cy="726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97922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98860-BDFB-A3D6-4EC2-D6F8DD823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11533329-74D3-66F2-7DB4-2DB657876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5BF1282B-36D3-4C24-E8D5-DF739F0FD8CA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3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1F1384-D3B7-8D45-3077-CA6DDF071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525" y="955810"/>
            <a:ext cx="8261350" cy="713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49176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DF5B-55A2-D6D8-2B29-8A15FEF1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7CE28015-F99A-4635-5F7C-9A96AC4CF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00063FA3-EA64-57D2-A043-0729AC7CB91E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3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D4B55C-E2FF-6C6A-1BD7-68A2323798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362" y="837122"/>
            <a:ext cx="8069676" cy="706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97867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87F06-DCE1-06F9-54BC-F4959EE6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98108131-9729-2B5F-7E01-9BA205B15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87310707-AC9B-092A-3A8D-16CAAF8EE6DD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3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4BB3A5-635C-286E-4592-84A1B1072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400" y="805372"/>
            <a:ext cx="8128000" cy="73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34708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EF82F-9715-5F16-4691-54670673E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CF228DE5-03B8-C31E-F5D0-F4B714A24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367AA36D-CE7E-F20E-1504-8485C3FF3F2B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3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CCB829-44F5-2709-E688-EE2A7EA51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550" y="882186"/>
            <a:ext cx="8115300" cy="721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030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ECE5C-598D-8A82-CEEB-4D7B2845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267D25D6-D9E2-CE23-A20C-91DF91B82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DEAF1D4C-89BE-2C3E-93B8-D1E188DF422A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3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14C40E-DC33-1B76-4DE9-BF50DD83F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300" y="958849"/>
            <a:ext cx="8356600" cy="714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185635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E2121-3BDD-45D1-C9E4-DFED49952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644B47D-4F6C-117F-A9D3-24D1C12A5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047728A0-594C-0E40-0DF3-5F1D7A100810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3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3807F0-C80A-0DA6-ACD5-2735ED89C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450" y="805372"/>
            <a:ext cx="8337550" cy="729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34547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532CF-3640-D11F-794B-1B8F3FCA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A08B0B93-6860-C01F-BBBE-8C995D034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A8B546FC-F217-2F30-5700-7BDF501E91DB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3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1AE5EF-D5E3-827E-1662-5F67C6273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700" y="805372"/>
            <a:ext cx="8255000" cy="725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49283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FF5A3-1E44-2E98-DCEB-1FDE8A408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DF27A5AE-2CAD-D2B7-8C57-A9AB70B38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9C6B115E-C2A8-A4F9-5271-FB51AE77885E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3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4257A0-98E1-88A8-F38C-7E4F8D5EC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815070"/>
            <a:ext cx="8026400" cy="709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69753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13069-9A67-4AFF-56AE-409A98482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42A8400-1974-CEB7-3666-A96E6D67E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FC99A5C7-5C88-0795-106F-F19D7486E726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3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BE2056-111B-1B9A-3175-017C583F3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987" y="805372"/>
            <a:ext cx="7972425" cy="723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776476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AD22C-FB46-BFBD-EA76-67FD9AAA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8BCF7F2B-F5E8-83DC-9415-0759335DE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4EA927EF-E1F5-888D-ADE9-B4FC84ACE227}"/>
              </a:ext>
            </a:extLst>
          </p:cNvPr>
          <p:cNvSpPr txBox="1"/>
          <p:nvPr/>
        </p:nvSpPr>
        <p:spPr>
          <a:xfrm>
            <a:off x="590632" y="3514350"/>
            <a:ext cx="13449136" cy="2749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4400" dirty="0"/>
              <a:t>Сценарий 4</a:t>
            </a:r>
            <a:r>
              <a:rPr lang="en-US" sz="4400" dirty="0"/>
              <a:t>: Paxos</a:t>
            </a:r>
            <a:r>
              <a:rPr lang="ru-RU" sz="4400" dirty="0"/>
              <a:t> и дуэль двух </a:t>
            </a:r>
            <a:r>
              <a:rPr lang="en-US" sz="4400" dirty="0"/>
              <a:t>proposer-</a:t>
            </a:r>
            <a:r>
              <a:rPr lang="ru-RU" sz="4400" dirty="0" err="1"/>
              <a:t>ов</a:t>
            </a:r>
            <a:r>
              <a:rPr lang="ru-RU" sz="4400" dirty="0"/>
              <a:t>, </a:t>
            </a:r>
            <a:r>
              <a:rPr lang="en-US" sz="4400" dirty="0" err="1"/>
              <a:t>livelock</a:t>
            </a:r>
            <a:endParaRPr lang="ru-RU" sz="4400" dirty="0"/>
          </a:p>
          <a:p>
            <a:pPr algn="ctr"/>
            <a:endParaRPr lang="ru-RU" sz="4400" dirty="0"/>
          </a:p>
          <a:p>
            <a:pPr algn="ctr"/>
            <a:endParaRPr lang="ru-RU" sz="4400" dirty="0"/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9311789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49B79-D01A-6AD7-A0AB-DC30D4B1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F50F9459-8CEF-0EAF-D1E2-1314C099E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DC9CB8B6-FBD9-89BD-4DF5-F7BCD11BAB2C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4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B54DD4-079F-FF5B-5232-1C4200D82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450" y="837929"/>
            <a:ext cx="8464550" cy="729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19632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A05BB-4289-9194-EBCE-988C93F27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7C351977-2E1C-03F6-3018-5B1C0746B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B0A69AD2-6417-C988-2807-AFC323B7D7EE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4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A84EA5-3494-8F1F-470C-F1F5EBCBE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900" y="870660"/>
            <a:ext cx="8356600" cy="722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54015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D066-72A8-4D8D-563F-B6566D211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79CE15F0-F57B-017F-F5D0-E02FE2EF9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4C8139F2-23C5-3DE5-9B74-9EF9225F3E8C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4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22CCB4-2690-BDAA-D029-CB5F1DAF9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550" y="805372"/>
            <a:ext cx="8756650" cy="722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21591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58880-41A1-BCF2-9EAD-C989BB84C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C60ABDA-EDAD-820B-8CD6-044E8279C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E461F8F9-DBC3-2795-4B85-585C01FC7352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4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F1D8BD-1BE2-8A19-0FA2-3D0207B00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154" y="805372"/>
            <a:ext cx="8716091" cy="711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46556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C5C47-FABE-79B6-E1E0-F7FF1C808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62216BD-1D7D-EED7-61E7-199629735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A805A6C7-BAE3-F3CE-5249-3144E7CCEF5E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4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D4B357-CAF8-72EB-313C-F41274A8A1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224" y="945510"/>
            <a:ext cx="8575675" cy="714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83068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D49F1-661B-693A-74C5-DF487BC14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F8712BE7-4916-EA16-7C31-4E2FB7F9E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296FCF0E-DB7F-1617-0E9E-40F49BDAB43B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4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25809D-9298-4F01-8FF3-AD2D1861D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650" y="910286"/>
            <a:ext cx="8293100" cy="718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89640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E41ED-B52A-94FC-D5DF-3ADF6DFB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EBEAFF7-B067-4129-8DDF-859919E6E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396DAE27-E64D-2BA1-1C60-0139BE03052B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4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FC7FB5-4C3C-01F2-FF63-D94FC2F75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0" y="805372"/>
            <a:ext cx="9315450" cy="721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29179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6238-F9F5-6380-EC39-23C01DC31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D8717E0E-055D-CC82-3DDF-1D40EE342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36D8982B-D2AE-C5B4-47C3-F3BA12EBC2CC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4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E9B44F-3DB4-7E29-5401-5187A347D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582" y="863552"/>
            <a:ext cx="8869236" cy="722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60043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48ED5-C101-434A-5FAF-48DCF0493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D2079B9-47BA-D904-C369-61F2A37FF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99FA6A61-88C2-BEEF-1DF7-CEBD942C9460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4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15F3E7-ADFE-0E4C-D75F-90C14D5AE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919433"/>
            <a:ext cx="8801100" cy="707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4420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9F125-5248-F196-E91E-8BDE28D36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8B3CC934-8ECF-2DA2-C62C-F970B439C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28B3D0DA-0DA4-AAD9-C089-2C50D8DEAE65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4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31A699-71E3-B296-0228-7EC57214E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225" y="928415"/>
            <a:ext cx="8997950" cy="716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239104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044B4-77B2-3CAA-CBA9-27BEB9390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C50CA4B8-3FC6-BA11-678B-9A67EB6F6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EFCE4248-7C75-205E-C199-030EB752E8B4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4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7A0CBB-7E5F-39E9-B6B4-8FD634B06A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975" y="983203"/>
            <a:ext cx="8934450" cy="711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6221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28132</TotalTime>
  <Words>810</Words>
  <Application>Microsoft Macintosh PowerPoint</Application>
  <PresentationFormat>Custom</PresentationFormat>
  <Paragraphs>124</Paragraphs>
  <Slides>78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3" baseType="lpstr">
      <vt:lpstr>Arial</vt:lpstr>
      <vt:lpstr>Calibri</vt:lpstr>
      <vt:lpstr>Calibri Light</vt:lpstr>
      <vt:lpstr>fkGroteskNeue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Alexey Shkel</cp:lastModifiedBy>
  <cp:revision>75</cp:revision>
  <dcterms:modified xsi:type="dcterms:W3CDTF">2026-05-15T18:10:22Z</dcterms:modified>
</cp:coreProperties>
</file>