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256" r:id="rId2"/>
    <p:sldId id="348" r:id="rId3"/>
    <p:sldId id="257" r:id="rId4"/>
    <p:sldId id="305" r:id="rId5"/>
    <p:sldId id="307" r:id="rId6"/>
    <p:sldId id="314" r:id="rId7"/>
    <p:sldId id="319" r:id="rId8"/>
    <p:sldId id="322" r:id="rId9"/>
    <p:sldId id="324" r:id="rId10"/>
    <p:sldId id="351" r:id="rId11"/>
    <p:sldId id="353" r:id="rId12"/>
    <p:sldId id="357" r:id="rId13"/>
    <p:sldId id="326" r:id="rId14"/>
    <p:sldId id="332" r:id="rId15"/>
    <p:sldId id="333" r:id="rId16"/>
    <p:sldId id="335" r:id="rId17"/>
    <p:sldId id="336" r:id="rId18"/>
    <p:sldId id="337" r:id="rId19"/>
    <p:sldId id="355" r:id="rId20"/>
    <p:sldId id="356" r:id="rId21"/>
    <p:sldId id="358" r:id="rId22"/>
    <p:sldId id="367" r:id="rId23"/>
    <p:sldId id="368" r:id="rId24"/>
    <p:sldId id="306" r:id="rId25"/>
    <p:sldId id="369" r:id="rId26"/>
    <p:sldId id="308" r:id="rId27"/>
    <p:sldId id="359" r:id="rId28"/>
    <p:sldId id="309" r:id="rId29"/>
    <p:sldId id="310" r:id="rId30"/>
    <p:sldId id="311" r:id="rId31"/>
    <p:sldId id="312" r:id="rId32"/>
    <p:sldId id="313" r:id="rId33"/>
    <p:sldId id="371" r:id="rId34"/>
    <p:sldId id="370" r:id="rId35"/>
    <p:sldId id="361" r:id="rId36"/>
    <p:sldId id="362" r:id="rId37"/>
    <p:sldId id="363" r:id="rId38"/>
    <p:sldId id="315" r:id="rId39"/>
    <p:sldId id="316" r:id="rId40"/>
    <p:sldId id="317" r:id="rId41"/>
    <p:sldId id="318" r:id="rId42"/>
    <p:sldId id="364" r:id="rId43"/>
    <p:sldId id="365" r:id="rId44"/>
    <p:sldId id="366" r:id="rId45"/>
    <p:sldId id="372" r:id="rId46"/>
    <p:sldId id="320" r:id="rId47"/>
    <p:sldId id="321" r:id="rId48"/>
    <p:sldId id="373" r:id="rId49"/>
    <p:sldId id="323" r:id="rId50"/>
    <p:sldId id="374" r:id="rId51"/>
    <p:sldId id="325" r:id="rId52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2"/>
    <p:restoredTop sz="94658"/>
  </p:normalViewPr>
  <p:slideViewPr>
    <p:cSldViewPr snapToGrid="0">
      <p:cViewPr varScale="1">
        <p:scale>
          <a:sx n="95" d="100"/>
          <a:sy n="95" d="100"/>
        </p:scale>
        <p:origin x="1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498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6F365-A8ED-81AC-0050-6FC65FF4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E5547-6563-4F2F-2E5B-EC3A747C1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37B16-C08A-815B-0A31-394990277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10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507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066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731519" y="110489"/>
            <a:ext cx="13167362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731519" y="1920239"/>
            <a:ext cx="13167362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 txBox="1"/>
          <p:nvPr/>
        </p:nvSpPr>
        <p:spPr>
          <a:xfrm>
            <a:off x="966072" y="2400181"/>
            <a:ext cx="7211856" cy="136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dirty="0" err="1"/>
              <a:t>Проектирование</a:t>
            </a:r>
            <a:r>
              <a:rPr dirty="0"/>
              <a:t> </a:t>
            </a:r>
            <a:r>
              <a:rPr dirty="0" err="1"/>
              <a:t>Распределенных</a:t>
            </a:r>
            <a:r>
              <a:rPr dirty="0"/>
              <a:t> </a:t>
            </a:r>
            <a:r>
              <a:rPr dirty="0" err="1"/>
              <a:t>Систем</a:t>
            </a:r>
            <a:endParaRPr dirty="0"/>
          </a:p>
        </p:txBody>
      </p:sp>
      <p:sp>
        <p:nvSpPr>
          <p:cNvPr id="121" name="Text 1"/>
          <p:cNvSpPr txBox="1"/>
          <p:nvPr/>
        </p:nvSpPr>
        <p:spPr>
          <a:xfrm>
            <a:off x="1326307" y="4469387"/>
            <a:ext cx="5495094" cy="1273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3400"/>
              </a:lnSpc>
              <a:defRPr sz="2100" b="1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Тридцать второй семинар</a:t>
            </a:r>
            <a:endParaRPr dirty="0"/>
          </a:p>
          <a:p>
            <a:pPr algn="ctr">
              <a:lnSpc>
                <a:spcPts val="3400"/>
              </a:lnSpc>
              <a:defRPr sz="2100" b="1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sz="2100" b="1" dirty="0">
                <a:sym typeface="Patrick Hand"/>
              </a:rPr>
              <a:t>Алгоритмы достижения консенсуса в РС.</a:t>
            </a:r>
            <a:br>
              <a:rPr lang="ru-RU" sz="2100" b="1" dirty="0">
                <a:sym typeface="Patrick Hand"/>
              </a:rPr>
            </a:br>
            <a:r>
              <a:rPr lang="en-US" sz="2100" b="1" dirty="0">
                <a:sym typeface="Patrick Hand"/>
              </a:rPr>
              <a:t>RAFT</a:t>
            </a:r>
            <a:r>
              <a:rPr lang="ru-RU" sz="2100" b="1" dirty="0">
                <a:sym typeface="Patrick Hand"/>
              </a:rPr>
              <a:t>: </a:t>
            </a:r>
            <a:r>
              <a:rPr lang="en-US" sz="2100" b="1" dirty="0">
                <a:sym typeface="Patrick Hand"/>
              </a:rPr>
              <a:t>Append-Log, Log replication </a:t>
            </a:r>
            <a:r>
              <a:rPr lang="ru-RU" sz="2100" b="1" dirty="0">
                <a:sym typeface="Patrick Hand"/>
              </a:rPr>
              <a:t>и </a:t>
            </a:r>
            <a:r>
              <a:rPr lang="en-US" sz="2100" b="1" dirty="0">
                <a:sym typeface="Patrick Hand"/>
              </a:rPr>
              <a:t>Commit.</a:t>
            </a:r>
          </a:p>
        </p:txBody>
      </p:sp>
      <p:sp>
        <p:nvSpPr>
          <p:cNvPr id="122" name="Text 2"/>
          <p:cNvSpPr txBox="1"/>
          <p:nvPr/>
        </p:nvSpPr>
        <p:spPr>
          <a:xfrm>
            <a:off x="-1" y="7667907"/>
            <a:ext cx="2392721" cy="40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400"/>
              </a:lnSpc>
              <a:defRPr sz="21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t>Алексей Шкель</a:t>
            </a:r>
          </a:p>
        </p:txBody>
      </p:sp>
      <p:pic>
        <p:nvPicPr>
          <p:cNvPr id="123" name="Рисунок 6" descr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diagram of a leader  AI-generated content may be incorrect.">
            <a:extLst>
              <a:ext uri="{FF2B5EF4-FFF2-40B4-BE49-F238E27FC236}">
                <a16:creationId xmlns:a16="http://schemas.microsoft.com/office/drawing/2014/main" id="{7797EE03-B5C5-537D-7705-D0BF5CB64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931" y="1642547"/>
            <a:ext cx="5773062" cy="561339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F0701-DEA0-7F2F-3C0A-112324C7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Рисунок 6" descr="Рисунок 6">
            <a:extLst>
              <a:ext uri="{FF2B5EF4-FFF2-40B4-BE49-F238E27FC236}">
                <a16:creationId xmlns:a16="http://schemas.microsoft.com/office/drawing/2014/main" id="{413D4C6B-5685-1BA2-37B3-A32BCF82A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2" descr="Raft - Launch Trailer | PS5 Games - YouTube">
            <a:extLst>
              <a:ext uri="{FF2B5EF4-FFF2-40B4-BE49-F238E27FC236}">
                <a16:creationId xmlns:a16="http://schemas.microsoft.com/office/drawing/2014/main" id="{9ABAE553-7F6F-FF57-EFA0-06D1DAF1F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34006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 txBox="1"/>
          <p:nvPr/>
        </p:nvSpPr>
        <p:spPr>
          <a:xfrm>
            <a:off x="737830" y="751403"/>
            <a:ext cx="3408183" cy="648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семинара</a:t>
            </a:r>
            <a:endParaRPr dirty="0"/>
          </a:p>
        </p:txBody>
      </p:sp>
      <p:pic>
        <p:nvPicPr>
          <p:cNvPr id="12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86" y="1410176"/>
            <a:ext cx="6472001" cy="228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Image 2" descr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86" y="3037521"/>
            <a:ext cx="6472001" cy="22861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Text 2"/>
          <p:cNvSpPr txBox="1"/>
          <p:nvPr/>
        </p:nvSpPr>
        <p:spPr>
          <a:xfrm>
            <a:off x="438418" y="2557867"/>
            <a:ext cx="10040275" cy="3447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/>
              <a:t>Повторение: роли и </a:t>
            </a:r>
            <a:r>
              <a:rPr lang="en-US" sz="2800" dirty="0"/>
              <a:t>terms </a:t>
            </a:r>
            <a:r>
              <a:rPr lang="ru-RU" sz="2800" dirty="0"/>
              <a:t>в </a:t>
            </a:r>
            <a:r>
              <a:rPr lang="en-US" sz="2800" dirty="0"/>
              <a:t>RAFT</a:t>
            </a:r>
            <a:endParaRPr lang="ru-RU" sz="28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/>
              <a:t>Повторение:</a:t>
            </a:r>
            <a:r>
              <a:rPr lang="en-US" sz="2800" dirty="0"/>
              <a:t> </a:t>
            </a:r>
            <a:r>
              <a:rPr lang="ru-RU" sz="2800" dirty="0"/>
              <a:t>инициализация и </a:t>
            </a:r>
            <a:r>
              <a:rPr lang="en-US" sz="2800" dirty="0"/>
              <a:t>Leader Election </a:t>
            </a:r>
            <a:r>
              <a:rPr lang="ru-RU" sz="2800" dirty="0"/>
              <a:t>в </a:t>
            </a:r>
            <a:r>
              <a:rPr lang="en-US" sz="2800" dirty="0"/>
              <a:t>RAFT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/>
              <a:t>Структура лога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/>
              <a:t>Репликация лога с лидера на фолловеров (рассылка + репликация)</a:t>
            </a:r>
            <a:endParaRPr lang="en-US" sz="28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/>
              <a:t>Обновление значений лога на фолловерах</a:t>
            </a:r>
            <a:endParaRPr lang="en-US" sz="28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/>
              <a:t>Commit </a:t>
            </a:r>
            <a:r>
              <a:rPr lang="ru-RU" sz="2800" dirty="0"/>
              <a:t>и </a:t>
            </a:r>
            <a:r>
              <a:rPr lang="en-US" sz="2800" dirty="0"/>
              <a:t>apply </a:t>
            </a:r>
            <a:r>
              <a:rPr lang="ru-RU" sz="2800" dirty="0"/>
              <a:t>финального значения на лидере</a:t>
            </a:r>
            <a:endParaRPr lang="en-US" sz="28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/>
              <a:t>Подведение итогов</a:t>
            </a:r>
            <a:r>
              <a:rPr lang="en-US" sz="2800" dirty="0"/>
              <a:t> </a:t>
            </a:r>
            <a:r>
              <a:rPr lang="ru-RU" sz="2800" dirty="0"/>
              <a:t>по </a:t>
            </a:r>
            <a:r>
              <a:rPr lang="en-US" sz="2800" dirty="0"/>
              <a:t>RAFT</a:t>
            </a:r>
          </a:p>
        </p:txBody>
      </p:sp>
      <p:pic>
        <p:nvPicPr>
          <p:cNvPr id="130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693" y="718644"/>
            <a:ext cx="4138419" cy="6207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257" y="7432129"/>
            <a:ext cx="4025901" cy="723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1E467A-2002-EDB0-0199-752163EC4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43145CB-C46B-1F08-A363-67016FF3F456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9EEB8DE-0EDE-072C-E88F-5D091081F37B}"/>
              </a:ext>
            </a:extLst>
          </p:cNvPr>
          <p:cNvSpPr txBox="1"/>
          <p:nvPr/>
        </p:nvSpPr>
        <p:spPr>
          <a:xfrm>
            <a:off x="5673166" y="3448912"/>
            <a:ext cx="296231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Роли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113" y="812800"/>
            <a:ext cx="11889087" cy="6972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232740-1E3B-4D86-7881-485759D2F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851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DF1903A-B23B-82C7-C93D-3DD5A38EB7A8}"/>
              </a:ext>
            </a:extLst>
          </p:cNvPr>
          <p:cNvSpPr txBox="1"/>
          <p:nvPr/>
        </p:nvSpPr>
        <p:spPr>
          <a:xfrm>
            <a:off x="5520766" y="48056"/>
            <a:ext cx="296231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Роли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3"/>
          <p:cNvPicPr>
            <a:picLocks noChangeAspect="1"/>
          </p:cNvPicPr>
          <p:nvPr/>
        </p:nvPicPr>
        <p:blipFill>
          <a:blip r:embed="rId3"/>
          <a:srcRect b="14584"/>
          <a:stretch>
            <a:fillRect/>
          </a:stretch>
        </p:blipFill>
        <p:spPr>
          <a:xfrm>
            <a:off x="962526" y="1257301"/>
            <a:ext cx="12705347" cy="6248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E4A487-DB86-C981-E612-7232D649B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145671-2692-A661-F3CB-5A44756B5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016" y="7791488"/>
            <a:ext cx="2573383" cy="412712"/>
          </a:xfrm>
          <a:prstGeom prst="rect">
            <a:avLst/>
          </a:prstGeom>
        </p:spPr>
      </p:pic>
      <p:pic>
        <p:nvPicPr>
          <p:cNvPr id="2" name="image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640" y="790144"/>
            <a:ext cx="10693118" cy="7027817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8EBF3CC-CEE7-F46A-A237-1471BEA0D9A7}"/>
              </a:ext>
            </a:extLst>
          </p:cNvPr>
          <p:cNvSpPr txBox="1"/>
          <p:nvPr/>
        </p:nvSpPr>
        <p:spPr>
          <a:xfrm>
            <a:off x="3382845" y="12425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Сроки лидерства (</a:t>
            </a:r>
            <a:r>
              <a:rPr lang="en-US" dirty="0"/>
              <a:t>Terms</a:t>
            </a:r>
            <a:r>
              <a:rPr lang="ru-RU" dirty="0"/>
              <a:t>)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66" y="874411"/>
            <a:ext cx="10400044" cy="68979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2648C5-1BF4-C40D-2AE8-EBEC6FC62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75E7F0C-B237-245F-7396-7603A1CE0C91}"/>
              </a:ext>
            </a:extLst>
          </p:cNvPr>
          <p:cNvSpPr txBox="1"/>
          <p:nvPr/>
        </p:nvSpPr>
        <p:spPr>
          <a:xfrm>
            <a:off x="3382845" y="12425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Сроки лидерства (</a:t>
            </a:r>
            <a:r>
              <a:rPr lang="en-US" dirty="0"/>
              <a:t>Terms</a:t>
            </a:r>
            <a:r>
              <a:rPr lang="ru-RU" dirty="0"/>
              <a:t>)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075" y="994550"/>
            <a:ext cx="11208250" cy="677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F48E1C-DB46-15E3-E1B0-C68918AFD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A2F874C-4CAE-C4C4-8ED0-1DA0EC5611E8}"/>
              </a:ext>
            </a:extLst>
          </p:cNvPr>
          <p:cNvSpPr txBox="1"/>
          <p:nvPr/>
        </p:nvSpPr>
        <p:spPr>
          <a:xfrm>
            <a:off x="3716641" y="22980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Данные на диске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127B-D83A-7FF7-70C0-07E88069F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968F88-233A-EEBA-70C7-FAE691290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3B16936-4252-4C07-31EA-FC5E6175FD3E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6B0C21F-C380-D249-E523-1ED73FA42F5D}"/>
              </a:ext>
            </a:extLst>
          </p:cNvPr>
          <p:cNvSpPr txBox="1"/>
          <p:nvPr/>
        </p:nvSpPr>
        <p:spPr>
          <a:xfrm>
            <a:off x="3603429" y="20714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 1) </a:t>
            </a:r>
            <a:r>
              <a:rPr lang="ru-RU" dirty="0"/>
              <a:t>Инициализация</a:t>
            </a:r>
          </a:p>
        </p:txBody>
      </p:sp>
      <p:pic>
        <p:nvPicPr>
          <p:cNvPr id="2" name="image13">
            <a:extLst>
              <a:ext uri="{FF2B5EF4-FFF2-40B4-BE49-F238E27FC236}">
                <a16:creationId xmlns:a16="http://schemas.microsoft.com/office/drawing/2014/main" id="{85F28313-FAFA-C5D3-0A23-0EA4AB1F5B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584"/>
          <a:stretch>
            <a:fillRect/>
          </a:stretch>
        </p:blipFill>
        <p:spPr>
          <a:xfrm>
            <a:off x="962526" y="1257301"/>
            <a:ext cx="12705347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73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D8FB9-BFB6-D65E-DE96-997376B4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617705-9EA9-7282-8F7B-BBF08D09E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D9E1302-2FF1-40A5-4B17-5744D379C417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73F747A-568D-5931-DE28-8A585AC9646D}"/>
              </a:ext>
            </a:extLst>
          </p:cNvPr>
          <p:cNvSpPr txBox="1"/>
          <p:nvPr/>
        </p:nvSpPr>
        <p:spPr>
          <a:xfrm>
            <a:off x="3603429" y="20714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 1) </a:t>
            </a:r>
            <a:r>
              <a:rPr lang="ru-RU" dirty="0"/>
              <a:t>Инициализация</a:t>
            </a:r>
          </a:p>
        </p:txBody>
      </p:sp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30FE228-4626-2B86-D4D7-CB7F49245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479" y="1564257"/>
            <a:ext cx="8761877" cy="6294940"/>
          </a:xfrm>
          <a:prstGeom prst="rect">
            <a:avLst/>
          </a:prstGeom>
        </p:spPr>
      </p:pic>
      <p:pic>
        <p:nvPicPr>
          <p:cNvPr id="6" name="Picture 5" descr="A diagram of a number of squares&#10;&#10;AI-generated content may be incorrect.">
            <a:extLst>
              <a:ext uri="{FF2B5EF4-FFF2-40B4-BE49-F238E27FC236}">
                <a16:creationId xmlns:a16="http://schemas.microsoft.com/office/drawing/2014/main" id="{7EBC5721-AF37-5D2A-5EA6-30FA04AB9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360" y="1564257"/>
            <a:ext cx="3318510" cy="13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62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618AC-640F-F8D3-8F33-BF07DFE71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091C99-5D29-3471-D795-B04F44ED7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7CE3D01-8533-7CFC-3CEA-DF23F3CC9426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1D7F76EB-8D4C-F156-F95A-28E3EF04EA1D}"/>
              </a:ext>
            </a:extLst>
          </p:cNvPr>
          <p:cNvSpPr txBox="1"/>
          <p:nvPr/>
        </p:nvSpPr>
        <p:spPr>
          <a:xfrm>
            <a:off x="3382845" y="3448912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 2) Leader Election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1953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58" y="822960"/>
            <a:ext cx="10949683" cy="69494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B4114B-13CF-9188-64CD-9F75E4EFB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39F61DA-B1B5-F234-D462-A16211DD58A6}"/>
              </a:ext>
            </a:extLst>
          </p:cNvPr>
          <p:cNvSpPr txBox="1"/>
          <p:nvPr/>
        </p:nvSpPr>
        <p:spPr>
          <a:xfrm>
            <a:off x="985571" y="31679"/>
            <a:ext cx="12659258" cy="642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sz="3600" dirty="0"/>
              <a:t>Этапы в </a:t>
            </a:r>
            <a:r>
              <a:rPr lang="en-US" sz="3600" dirty="0"/>
              <a:t>RAFT:</a:t>
            </a:r>
            <a:r>
              <a:rPr lang="ru-RU" sz="3600" dirty="0"/>
              <a:t> </a:t>
            </a:r>
            <a:r>
              <a:rPr lang="en-US" sz="3600" dirty="0"/>
              <a:t>2) Leader Election, </a:t>
            </a:r>
            <a:r>
              <a:rPr lang="ru-RU" sz="3600" dirty="0"/>
              <a:t>триггер начала выбора лидера</a:t>
            </a:r>
            <a:endParaRPr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362" y="731520"/>
            <a:ext cx="10213675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7DFDF8-76B6-CE05-FE93-22113F72E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0342" y="7772400"/>
            <a:ext cx="2090057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0E6FDEB-F055-2A52-EB28-BAB485EB9CF0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ru-RU" dirty="0"/>
              <a:t>визуализация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82" y="770709"/>
            <a:ext cx="10384835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3E67DB-553F-3F76-13B1-B2DB84742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5656" y="7772400"/>
            <a:ext cx="2024743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2DB9C56-31FE-C792-FDAD-B40F83B7C745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ru-RU" dirty="0"/>
              <a:t>визуализация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57" y="783454"/>
            <a:ext cx="10948683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E84DE2-970F-B31E-140C-C879DE1B4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9540" y="7772400"/>
            <a:ext cx="1840859" cy="4318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6514301-A9F1-CC93-09D5-4784718275B4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en-US"/>
              <a:t>up-to-date check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689" y="783454"/>
            <a:ext cx="10997022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69B16A-86F2-A6DA-0E93-A94E1FA96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3711" y="7772400"/>
            <a:ext cx="1816689" cy="4318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036AD1A2-E70D-6946-93B2-57669DD06E15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en-US"/>
              <a:t>up-to-date check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337" y="796834"/>
            <a:ext cx="10425723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6E1697-40AC-F44E-74A3-1478CD4F2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8060" y="7772400"/>
            <a:ext cx="2102339" cy="4318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C7927324-CB59-7A37-1B65-4112C26E40DA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up-to-date check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C57ED-EA1A-AE99-9979-E6D713D9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4B5884-292C-FF05-0964-F00661AED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F639B37-7780-8A92-4AFB-6980D8BE9EB5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5AA490E-6198-28EE-055B-85AB0CFB59B8}"/>
              </a:ext>
            </a:extLst>
          </p:cNvPr>
          <p:cNvSpPr txBox="1"/>
          <p:nvPr/>
        </p:nvSpPr>
        <p:spPr>
          <a:xfrm>
            <a:off x="2789825" y="39189"/>
            <a:ext cx="9407177" cy="1358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2) </a:t>
            </a:r>
            <a:r>
              <a:rPr lang="en-US" dirty="0"/>
              <a:t>Leader Election,</a:t>
            </a:r>
            <a:br>
              <a:rPr lang="ru-RU" dirty="0"/>
            </a:br>
            <a:r>
              <a:rPr lang="ru-RU" dirty="0"/>
              <a:t>голосование за нового лидера</a:t>
            </a:r>
            <a:endParaRPr dirty="0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3E34CDB-F5AE-2999-1DE4-1353B2117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25" y="1547270"/>
            <a:ext cx="9659075" cy="665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9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986F6-59EE-2887-74D9-D6219D09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39D4D-2E76-364A-4B1A-E2A28A4AD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185D6CA-867B-74AC-55EB-D36B5A8EC269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626D6C9-3A63-AED1-1567-FC30DC687174}"/>
              </a:ext>
            </a:extLst>
          </p:cNvPr>
          <p:cNvSpPr txBox="1"/>
          <p:nvPr/>
        </p:nvSpPr>
        <p:spPr>
          <a:xfrm>
            <a:off x="3289920" y="0"/>
            <a:ext cx="7864709" cy="1358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2) </a:t>
            </a:r>
            <a:r>
              <a:rPr lang="en-US" dirty="0"/>
              <a:t>Leader Election,</a:t>
            </a:r>
            <a:br>
              <a:rPr lang="ru-RU" dirty="0"/>
            </a:br>
            <a:r>
              <a:rPr lang="ru-RU" dirty="0"/>
              <a:t>сбор голосов</a:t>
            </a:r>
            <a:endParaRPr dirty="0"/>
          </a:p>
        </p:txBody>
      </p:sp>
      <p:pic>
        <p:nvPicPr>
          <p:cNvPr id="10" name="Picture 9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388CA672-D403-6C6C-D355-090970E81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310" y="1370145"/>
            <a:ext cx="9016689" cy="678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751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9419D-0A2D-83A2-E4F2-C5342BCF1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62C9F2-9282-C537-B70D-B0FCA7B08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ACD3261-8487-FD5D-61E2-130342CE437F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30022C3-666F-408C-84CF-B63EC0CFCD62}"/>
              </a:ext>
            </a:extLst>
          </p:cNvPr>
          <p:cNvSpPr txBox="1"/>
          <p:nvPr/>
        </p:nvSpPr>
        <p:spPr>
          <a:xfrm>
            <a:off x="2809880" y="3781856"/>
            <a:ext cx="90106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</a:t>
            </a:r>
            <a:r>
              <a:rPr lang="en-US" dirty="0"/>
              <a:t>Log </a:t>
            </a:r>
            <a:r>
              <a:rPr lang="en-US" dirty="0" err="1"/>
              <a:t>Replicaton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7582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4117-198D-DCBE-0AD2-0AA93835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46CEF9-7C70-671C-1D32-40947C058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B36CC6F-7101-5600-CF95-B05346523AB6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C2AE3FC-846B-684B-F22E-2B1E012C5B60}"/>
              </a:ext>
            </a:extLst>
          </p:cNvPr>
          <p:cNvSpPr txBox="1"/>
          <p:nvPr/>
        </p:nvSpPr>
        <p:spPr>
          <a:xfrm>
            <a:off x="2598699" y="3448912"/>
            <a:ext cx="90106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Структура </a:t>
            </a:r>
            <a:r>
              <a:rPr lang="en-US" dirty="0"/>
              <a:t>Log-</a:t>
            </a:r>
            <a:r>
              <a:rPr lang="ru-RU" dirty="0"/>
              <a:t>а (</a:t>
            </a:r>
            <a:r>
              <a:rPr lang="ru-RU" dirty="0" err="1"/>
              <a:t>жунала</a:t>
            </a:r>
            <a:r>
              <a:rPr lang="ru-RU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4954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4.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49" y="900112"/>
            <a:ext cx="9010639" cy="718967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384410B-50DD-633B-DF8E-75DBEDE5447A}"/>
              </a:ext>
            </a:extLst>
          </p:cNvPr>
          <p:cNvSpPr txBox="1"/>
          <p:nvPr/>
        </p:nvSpPr>
        <p:spPr>
          <a:xfrm>
            <a:off x="2641562" y="234224"/>
            <a:ext cx="90106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Структура </a:t>
            </a:r>
            <a:r>
              <a:rPr lang="en-US" dirty="0"/>
              <a:t>Log-</a:t>
            </a:r>
            <a:r>
              <a:rPr lang="ru-RU" dirty="0"/>
              <a:t>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7E3857-33DB-D544-A931-EAF3120CB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4.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699" y="1315584"/>
            <a:ext cx="10474363" cy="66797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19E86A-A931-82CD-82F5-352B2DCA0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F43961D-3064-BB01-1D8C-4282812CA28A}"/>
              </a:ext>
            </a:extLst>
          </p:cNvPr>
          <p:cNvSpPr txBox="1"/>
          <p:nvPr/>
        </p:nvSpPr>
        <p:spPr>
          <a:xfrm>
            <a:off x="2641562" y="234224"/>
            <a:ext cx="90106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Структура </a:t>
            </a:r>
            <a:r>
              <a:rPr lang="en-US" dirty="0"/>
              <a:t>Log-</a:t>
            </a:r>
            <a:r>
              <a:rPr lang="ru-RU" dirty="0"/>
              <a:t>а</a:t>
            </a:r>
            <a:endParaRPr dirty="0"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4.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662" y="1334453"/>
            <a:ext cx="10721076" cy="67609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0D8C55-E4F5-F537-1736-3F0EE7F42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F00B583-E00B-DD45-66E2-2E24FCAF1049}"/>
              </a:ext>
            </a:extLst>
          </p:cNvPr>
          <p:cNvSpPr txBox="1"/>
          <p:nvPr/>
        </p:nvSpPr>
        <p:spPr>
          <a:xfrm>
            <a:off x="2641562" y="234224"/>
            <a:ext cx="90106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Структура </a:t>
            </a:r>
            <a:r>
              <a:rPr lang="en-US" dirty="0"/>
              <a:t>Log-</a:t>
            </a:r>
            <a:r>
              <a:rPr lang="ru-RU" dirty="0"/>
              <a:t>а</a:t>
            </a:r>
            <a:endParaRPr dirty="0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5.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945" y="1088249"/>
            <a:ext cx="9974509" cy="69071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BAC05E-1F69-AD80-4DE1-6CD21A50E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54FFB0B-54F8-E636-DA1D-073A8FE58163}"/>
              </a:ext>
            </a:extLst>
          </p:cNvPr>
          <p:cNvSpPr txBox="1"/>
          <p:nvPr/>
        </p:nvSpPr>
        <p:spPr>
          <a:xfrm>
            <a:off x="2641562" y="234224"/>
            <a:ext cx="90106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Структура </a:t>
            </a:r>
            <a:r>
              <a:rPr lang="en-US" dirty="0"/>
              <a:t>Log-</a:t>
            </a:r>
            <a:r>
              <a:rPr lang="ru-RU" dirty="0"/>
              <a:t>а</a:t>
            </a:r>
            <a:endParaRPr dirty="0"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5FB1E-6505-C16C-71D1-DC9145C3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CA00C9-1718-448C-3426-0ABC76B2E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61D2806-2802-0CA4-0F5E-1FFF2A8F3850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A375DA3D-AB90-1AC8-E6EC-3AD1FECF3F50}"/>
              </a:ext>
            </a:extLst>
          </p:cNvPr>
          <p:cNvSpPr txBox="1"/>
          <p:nvPr/>
        </p:nvSpPr>
        <p:spPr>
          <a:xfrm>
            <a:off x="1075875" y="3781856"/>
            <a:ext cx="1205446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Рассылка сообщений о репликации лога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955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5.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123" y="1005840"/>
            <a:ext cx="9019390" cy="700544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C5A5667-D419-8967-617F-908543607A66}"/>
              </a:ext>
            </a:extLst>
          </p:cNvPr>
          <p:cNvSpPr txBox="1"/>
          <p:nvPr/>
        </p:nvSpPr>
        <p:spPr>
          <a:xfrm>
            <a:off x="1518788" y="138543"/>
            <a:ext cx="1205446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Рассылка сообщений о репликации лога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328F34-CE38-240F-C0CE-9F6CF0F13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5.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868" y="1248726"/>
            <a:ext cx="8707834" cy="673798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EA9FCFB-FEC9-FB52-2414-F909DA5ECE72}"/>
              </a:ext>
            </a:extLst>
          </p:cNvPr>
          <p:cNvSpPr txBox="1"/>
          <p:nvPr/>
        </p:nvSpPr>
        <p:spPr>
          <a:xfrm>
            <a:off x="1518788" y="138543"/>
            <a:ext cx="1205446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Рассылка сообщений о репликации лога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3B1BB0-8F5C-6FCF-C5D9-3F1604D97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5.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178" y="1248726"/>
            <a:ext cx="8664760" cy="670672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B92EE4B-B6F5-2D20-E6F3-76BDF5BD616B}"/>
              </a:ext>
            </a:extLst>
          </p:cNvPr>
          <p:cNvSpPr txBox="1"/>
          <p:nvPr/>
        </p:nvSpPr>
        <p:spPr>
          <a:xfrm>
            <a:off x="1518788" y="138543"/>
            <a:ext cx="1205446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Рассылка сообщений о репликации лога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96C418-FC09-FE90-3F1F-05B0AFA46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5.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292" y="1234439"/>
            <a:ext cx="9314953" cy="669512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70B880D-8E61-E56B-9F62-4F8E2C04EBC2}"/>
              </a:ext>
            </a:extLst>
          </p:cNvPr>
          <p:cNvSpPr txBox="1"/>
          <p:nvPr/>
        </p:nvSpPr>
        <p:spPr>
          <a:xfrm>
            <a:off x="1518788" y="138543"/>
            <a:ext cx="1205446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Рассылка сообщений о репликации лога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5D3234-0E06-B7DC-43F4-CABCF3D21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5.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100" y="1234439"/>
            <a:ext cx="9148392" cy="685661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CA98927-4B95-EF9F-9628-EA046B9E6C48}"/>
              </a:ext>
            </a:extLst>
          </p:cNvPr>
          <p:cNvSpPr txBox="1"/>
          <p:nvPr/>
        </p:nvSpPr>
        <p:spPr>
          <a:xfrm>
            <a:off x="1518788" y="138543"/>
            <a:ext cx="1205446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Рассылка сообщений о репликации лога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E2657-BEB4-7606-2560-9F9BAC3F5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6.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150" y="1080456"/>
            <a:ext cx="8900250" cy="7010601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0C42CCD-E3CC-8A0F-B9BD-33D21B5940AF}"/>
              </a:ext>
            </a:extLst>
          </p:cNvPr>
          <p:cNvSpPr txBox="1"/>
          <p:nvPr/>
        </p:nvSpPr>
        <p:spPr>
          <a:xfrm>
            <a:off x="1518788" y="138543"/>
            <a:ext cx="1205446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Рассылка сообщений о репликации лога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EF8D4-8BC8-4A05-AE7C-1D83EA19D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A5A56-7BA4-FD16-1FD6-25BEE1197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BAA825-6C6E-22D4-B352-8E7EE8350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32AAB0C-06FD-ECBF-CB96-F186654AB009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7DB1B31-1530-5DB8-6370-E7694D8710F2}"/>
              </a:ext>
            </a:extLst>
          </p:cNvPr>
          <p:cNvSpPr txBox="1"/>
          <p:nvPr/>
        </p:nvSpPr>
        <p:spPr>
          <a:xfrm>
            <a:off x="947287" y="219409"/>
            <a:ext cx="1205446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Рассылка сообщений о репликации лога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91F0BB-BF8D-4A41-EF6D-F009817236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17"/>
          <a:stretch>
            <a:fillRect/>
          </a:stretch>
        </p:blipFill>
        <p:spPr>
          <a:xfrm>
            <a:off x="2575935" y="1057935"/>
            <a:ext cx="9583949" cy="695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27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328C-EE91-4B05-5612-681A1A3D5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453F46-8989-032E-C3B5-FE0938977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8F96422-B7A6-E511-0EE6-B6810EC72A6C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8A04F7D-BCFE-1E91-C458-148E28FD64A7}"/>
              </a:ext>
            </a:extLst>
          </p:cNvPr>
          <p:cNvSpPr txBox="1"/>
          <p:nvPr/>
        </p:nvSpPr>
        <p:spPr>
          <a:xfrm>
            <a:off x="1505180" y="25400"/>
            <a:ext cx="11620039" cy="1358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4) Репликация лога с</a:t>
            </a:r>
            <a:br>
              <a:rPr lang="ru-RU" dirty="0"/>
            </a:br>
            <a:r>
              <a:rPr lang="ru-RU" dirty="0"/>
              <a:t>лидера на фолловеров</a:t>
            </a:r>
            <a:endParaRPr dirty="0"/>
          </a:p>
        </p:txBody>
      </p:sp>
      <p:pic>
        <p:nvPicPr>
          <p:cNvPr id="6" name="Picture 5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4DCD8A95-565C-A45D-2C77-89CEDABC0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480" y="1728787"/>
            <a:ext cx="9685229" cy="633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5188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A5D59-8C8A-FBF6-B7BC-79F6E04CC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8CF555-E900-92A0-657F-AC66EB092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5DFA8E5-C2D5-EEA3-2260-D69DF455EF79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1B3C3B6-81EF-18DB-445F-31EBA078A8C4}"/>
              </a:ext>
            </a:extLst>
          </p:cNvPr>
          <p:cNvSpPr txBox="1"/>
          <p:nvPr/>
        </p:nvSpPr>
        <p:spPr>
          <a:xfrm>
            <a:off x="1505180" y="25400"/>
            <a:ext cx="116200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Прием сообщений</a:t>
            </a:r>
            <a:r>
              <a:rPr lang="en-US" dirty="0"/>
              <a:t> </a:t>
            </a:r>
            <a:r>
              <a:rPr lang="ru-RU" dirty="0"/>
              <a:t>о логе на фолловерах</a:t>
            </a:r>
            <a:endParaRPr dirty="0"/>
          </a:p>
        </p:txBody>
      </p:sp>
      <p:pic>
        <p:nvPicPr>
          <p:cNvPr id="7" name="Picture 6" descr="A computer code with text&#10;&#10;AI-generated content may be incorrect.">
            <a:extLst>
              <a:ext uri="{FF2B5EF4-FFF2-40B4-BE49-F238E27FC236}">
                <a16:creationId xmlns:a16="http://schemas.microsoft.com/office/drawing/2014/main" id="{C94A132B-64A5-F915-5E95-5A38FF928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127" y="898522"/>
            <a:ext cx="9588952" cy="712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72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00AE5-26D6-69FE-BCE8-A6330F6D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347618-B33C-6179-4001-0E4E1A556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0EB98E8-695D-36D3-E5B9-A3BA9861D44B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04D15EA-9E95-9BA4-54F6-F7455971AE9D}"/>
              </a:ext>
            </a:extLst>
          </p:cNvPr>
          <p:cNvSpPr txBox="1"/>
          <p:nvPr/>
        </p:nvSpPr>
        <p:spPr>
          <a:xfrm>
            <a:off x="1519468" y="25400"/>
            <a:ext cx="116200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Обновление лога на фолловерах</a:t>
            </a:r>
            <a:endParaRPr dirty="0"/>
          </a:p>
        </p:txBody>
      </p:sp>
      <p:pic>
        <p:nvPicPr>
          <p:cNvPr id="6" name="Picture 5" descr="A computer code with text&#10;&#10;AI-generated content may be incorrect.">
            <a:extLst>
              <a:ext uri="{FF2B5EF4-FFF2-40B4-BE49-F238E27FC236}">
                <a16:creationId xmlns:a16="http://schemas.microsoft.com/office/drawing/2014/main" id="{98737494-C25A-22AF-81D8-EC9BDA3E0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882" y="808498"/>
            <a:ext cx="8597118" cy="718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357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BE4B2F2-6807-E3FA-9B81-A1343587F35D}"/>
              </a:ext>
            </a:extLst>
          </p:cNvPr>
          <p:cNvSpPr txBox="1"/>
          <p:nvPr/>
        </p:nvSpPr>
        <p:spPr>
          <a:xfrm>
            <a:off x="1519468" y="25400"/>
            <a:ext cx="11620039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Обновление лога на фолловерах</a:t>
            </a:r>
            <a:r>
              <a:rPr lang="en-US" dirty="0"/>
              <a:t>.</a:t>
            </a:r>
          </a:p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Обработка потерянных записей лога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EB20A-1261-30E1-4698-6A32C259E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  <p:pic>
        <p:nvPicPr>
          <p:cNvPr id="2" name="Screenshot" descr="Screenshot 2026-06-05 at 08.56.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073" y="1773317"/>
            <a:ext cx="11794112" cy="613439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FF72350-912D-9B7A-A591-6299733D2337}"/>
              </a:ext>
            </a:extLst>
          </p:cNvPr>
          <p:cNvSpPr txBox="1"/>
          <p:nvPr/>
        </p:nvSpPr>
        <p:spPr>
          <a:xfrm>
            <a:off x="1519468" y="25400"/>
            <a:ext cx="11620039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Обновление лога на фолловерах</a:t>
            </a:r>
            <a:r>
              <a:rPr lang="en-US" dirty="0"/>
              <a:t>.</a:t>
            </a:r>
          </a:p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Обработка потерянных записей лога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FF16FF-23EA-7FA4-CA3F-BED0E8619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  <p:pic>
        <p:nvPicPr>
          <p:cNvPr id="2" name="Screenshot" descr="Screenshot 2026-06-05 at 08.56.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369" y="1520189"/>
            <a:ext cx="11327294" cy="654675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0C5A8E7-9464-2ADB-D05B-F9C45B76AF5A}"/>
              </a:ext>
            </a:extLst>
          </p:cNvPr>
          <p:cNvSpPr txBox="1"/>
          <p:nvPr/>
        </p:nvSpPr>
        <p:spPr>
          <a:xfrm>
            <a:off x="1519468" y="25400"/>
            <a:ext cx="11620039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Обновление лога на фолловерах</a:t>
            </a:r>
            <a:r>
              <a:rPr lang="en-US" dirty="0"/>
              <a:t>.</a:t>
            </a:r>
          </a:p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Обработка потерянных записей лога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64DEE-B272-8642-9D66-DE8154B95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  <p:pic>
        <p:nvPicPr>
          <p:cNvPr id="2" name="Screenshot" descr="Screenshot 2026-06-05 at 08.56.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510" y="1389748"/>
            <a:ext cx="11170328" cy="672571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F626DA7-5CE8-AC03-7D26-5DF0F7F817B7}"/>
              </a:ext>
            </a:extLst>
          </p:cNvPr>
          <p:cNvSpPr txBox="1"/>
          <p:nvPr/>
        </p:nvSpPr>
        <p:spPr>
          <a:xfrm>
            <a:off x="1519468" y="25400"/>
            <a:ext cx="11620039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Обновление лога на фолловерах</a:t>
            </a:r>
            <a:r>
              <a:rPr lang="en-US" dirty="0"/>
              <a:t>.</a:t>
            </a:r>
          </a:p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Обработка потерянных записей лога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446AE-9CEF-8132-BB0A-C613FD780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  <p:pic>
        <p:nvPicPr>
          <p:cNvPr id="2" name="Screenshot" descr="Screenshot 2026-06-05 at 08.57.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656" y="1521704"/>
            <a:ext cx="11066893" cy="650238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B9D8-C2BC-D9F4-5AF5-5F6C59D6B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6028D2-C2D7-1E80-7C77-D7910D18D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7E42B81-9073-F7B5-7FFA-8102DA63E4B5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AFE8EF2-DED2-10E5-E14A-680BABDB3197}"/>
              </a:ext>
            </a:extLst>
          </p:cNvPr>
          <p:cNvSpPr txBox="1"/>
          <p:nvPr/>
        </p:nvSpPr>
        <p:spPr>
          <a:xfrm>
            <a:off x="1505180" y="25400"/>
            <a:ext cx="116200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3</a:t>
            </a:r>
            <a:r>
              <a:rPr lang="ru-RU" dirty="0"/>
              <a:t>) Получение </a:t>
            </a:r>
            <a:r>
              <a:rPr lang="en-US" dirty="0"/>
              <a:t>Acknowledgements</a:t>
            </a:r>
            <a:r>
              <a:rPr lang="ru-RU" dirty="0"/>
              <a:t> на лидере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8EADB5-DA10-927F-D80A-4074CE321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320" y="850592"/>
            <a:ext cx="10529757" cy="713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814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989DE-4639-7AB7-78B2-CF1CE7F4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9F91EB-367F-D93C-7825-36DBDDAF9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8AAFB88-A10C-6922-33B2-F411B049D839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DAFC45A-71EE-DA72-90F0-5CA4083FCE35}"/>
              </a:ext>
            </a:extLst>
          </p:cNvPr>
          <p:cNvSpPr txBox="1"/>
          <p:nvPr/>
        </p:nvSpPr>
        <p:spPr>
          <a:xfrm>
            <a:off x="1505180" y="3781856"/>
            <a:ext cx="116200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4) </a:t>
            </a:r>
            <a:r>
              <a:rPr lang="en-US" dirty="0"/>
              <a:t>Commit </a:t>
            </a:r>
            <a:r>
              <a:rPr lang="ru-RU" dirty="0"/>
              <a:t>и применение значений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62121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75ABD-47F3-D2FB-3728-C7E6C92DB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08DBEF-AD0B-2ACA-F22C-B04D96974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3FE422B-685C-8B70-A0AC-37448AD97D5C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558967F-F7BB-ADC6-239E-333E75149199}"/>
              </a:ext>
            </a:extLst>
          </p:cNvPr>
          <p:cNvSpPr txBox="1"/>
          <p:nvPr/>
        </p:nvSpPr>
        <p:spPr>
          <a:xfrm>
            <a:off x="1505180" y="174360"/>
            <a:ext cx="116200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4) </a:t>
            </a:r>
            <a:r>
              <a:rPr lang="en-US" dirty="0"/>
              <a:t>Commit </a:t>
            </a:r>
            <a:r>
              <a:rPr lang="ru-RU" dirty="0"/>
              <a:t>и применение значений</a:t>
            </a:r>
            <a:endParaRPr dirty="0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75D7580-ED52-DB87-B8C2-9B15B75BB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737" y="999742"/>
            <a:ext cx="9684923" cy="703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947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7.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678" y="1398330"/>
            <a:ext cx="10980948" cy="650938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70DA6B7-F4BB-D827-8FC8-EAC4A11EFC4C}"/>
              </a:ext>
            </a:extLst>
          </p:cNvPr>
          <p:cNvSpPr txBox="1"/>
          <p:nvPr/>
        </p:nvSpPr>
        <p:spPr>
          <a:xfrm>
            <a:off x="1505180" y="174360"/>
            <a:ext cx="116200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4) </a:t>
            </a:r>
            <a:r>
              <a:rPr lang="en-US" dirty="0"/>
              <a:t>Commit </a:t>
            </a:r>
            <a:r>
              <a:rPr lang="ru-RU" dirty="0"/>
              <a:t>и применение значений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FE65DE-2904-C52F-E80C-9E53037DD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7.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145" y="1234440"/>
            <a:ext cx="11156880" cy="68208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AB78555-1B4A-CFCC-3608-17793FD30EC8}"/>
              </a:ext>
            </a:extLst>
          </p:cNvPr>
          <p:cNvSpPr txBox="1"/>
          <p:nvPr/>
        </p:nvSpPr>
        <p:spPr>
          <a:xfrm>
            <a:off x="1505180" y="174360"/>
            <a:ext cx="116200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4) </a:t>
            </a:r>
            <a:r>
              <a:rPr lang="en-US" dirty="0"/>
              <a:t>Commit </a:t>
            </a:r>
            <a:r>
              <a:rPr lang="ru-RU" dirty="0"/>
              <a:t>и применение значений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FC44F-A98C-C836-8FD0-12C3CABA3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8.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423" y="1412617"/>
            <a:ext cx="11271602" cy="649509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EFAC8BA-9D3C-A967-C1B2-3499DF50DE85}"/>
              </a:ext>
            </a:extLst>
          </p:cNvPr>
          <p:cNvSpPr txBox="1"/>
          <p:nvPr/>
        </p:nvSpPr>
        <p:spPr>
          <a:xfrm>
            <a:off x="1505180" y="174360"/>
            <a:ext cx="116200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4) </a:t>
            </a:r>
            <a:r>
              <a:rPr lang="en-US" dirty="0"/>
              <a:t>Commit </a:t>
            </a:r>
            <a:r>
              <a:rPr lang="ru-RU" dirty="0"/>
              <a:t>и применение значений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9CC69C-AB2B-7339-415F-526D9CA17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8.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02" y="1441192"/>
            <a:ext cx="11014023" cy="646652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A6EA9F2-9475-73C5-A13B-9014E3076740}"/>
              </a:ext>
            </a:extLst>
          </p:cNvPr>
          <p:cNvSpPr txBox="1"/>
          <p:nvPr/>
        </p:nvSpPr>
        <p:spPr>
          <a:xfrm>
            <a:off x="1505180" y="174360"/>
            <a:ext cx="116200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4) </a:t>
            </a:r>
            <a:r>
              <a:rPr lang="en-US" dirty="0"/>
              <a:t>Commit </a:t>
            </a:r>
            <a:r>
              <a:rPr lang="ru-RU" dirty="0"/>
              <a:t>и применение значений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7C2C99-35C8-727D-795D-ED09DE04A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shot" descr="Screenshot 2026-06-05 at 08.58.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180" y="1297485"/>
            <a:ext cx="11222471" cy="663797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F632FA4-2AAE-2059-1CA7-A334EFCD3E78}"/>
              </a:ext>
            </a:extLst>
          </p:cNvPr>
          <p:cNvSpPr txBox="1"/>
          <p:nvPr/>
        </p:nvSpPr>
        <p:spPr>
          <a:xfrm>
            <a:off x="1505180" y="174360"/>
            <a:ext cx="116200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4) </a:t>
            </a:r>
            <a:r>
              <a:rPr lang="en-US" dirty="0"/>
              <a:t>Commit </a:t>
            </a:r>
            <a:r>
              <a:rPr lang="ru-RU" dirty="0"/>
              <a:t>и применение значений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64A5EA-6601-D7CD-4D6E-00DD8914B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84627-52DD-1F14-828C-462128D3F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98B0ABE-C866-255D-B895-24085B6437B9}"/>
              </a:ext>
            </a:extLst>
          </p:cNvPr>
          <p:cNvSpPr txBox="1"/>
          <p:nvPr/>
        </p:nvSpPr>
        <p:spPr>
          <a:xfrm>
            <a:off x="1505180" y="174360"/>
            <a:ext cx="116200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Итоги: </a:t>
            </a:r>
            <a:r>
              <a:rPr lang="en-US" dirty="0"/>
              <a:t>RAFT &lt;-&gt; Multi-Paxos</a:t>
            </a:r>
            <a:endParaRPr dirty="0"/>
          </a:p>
        </p:txBody>
      </p:sp>
      <p:pic>
        <p:nvPicPr>
          <p:cNvPr id="2" name="Screenshot" descr="Screenshot 2026-06-05 at 08.58.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919" y="1234440"/>
            <a:ext cx="11822087" cy="665226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68731C-046A-F1CE-FAEA-8EA088B85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3025" y="7585831"/>
            <a:ext cx="1857375" cy="643769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9D90E9D-E6F9-DD42-B4D4-0E26E5B79905}"/>
              </a:ext>
            </a:extLst>
          </p:cNvPr>
          <p:cNvSpPr txBox="1"/>
          <p:nvPr/>
        </p:nvSpPr>
        <p:spPr>
          <a:xfrm>
            <a:off x="1505180" y="174360"/>
            <a:ext cx="1162003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Итоги: </a:t>
            </a:r>
            <a:r>
              <a:rPr lang="en-US" dirty="0"/>
              <a:t>RAFT &lt;-&gt; Multi-Paxos</a:t>
            </a:r>
            <a:endParaRPr dirty="0"/>
          </a:p>
        </p:txBody>
      </p:sp>
      <p:pic>
        <p:nvPicPr>
          <p:cNvPr id="2" name="Screenshot" descr="Screenshot 2026-06-05 at 08.58.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993" y="1234440"/>
            <a:ext cx="11357720" cy="658076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31540</TotalTime>
  <Words>414</Words>
  <Application>Microsoft Macintosh PowerPoint</Application>
  <PresentationFormat>Custom</PresentationFormat>
  <Paragraphs>63</Paragraphs>
  <Slides>51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Calibri Light</vt:lpstr>
      <vt:lpstr>Patrick Hand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Alexey Shkel</cp:lastModifiedBy>
  <cp:revision>140</cp:revision>
  <dcterms:modified xsi:type="dcterms:W3CDTF">2026-06-16T21:44:50Z</dcterms:modified>
</cp:coreProperties>
</file>